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f428fd32974c89" /><Relationship Type="http://schemas.openxmlformats.org/officeDocument/2006/relationships/extended-properties" Target="/docProps/app.xml" Id="Rc7dce1c77da640cd" /><Relationship Type="http://schemas.openxmlformats.org/officeDocument/2006/relationships/officeDocument" Target="/ppt/presentation.xml" Id="R2bd92ee4e7c9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df7f8319d4fa8"/>
  </p:sldMasterIdLst>
  <p:notesMasterIdLst>
    <p:notesMasterId xmlns:r="http://schemas.openxmlformats.org/officeDocument/2006/relationships" r:id="R05eddbc8ac9748c8"/>
  </p:notesMasterIdLst>
  <p:sldIdLst>
    <p:sldId xmlns:r="http://schemas.openxmlformats.org/officeDocument/2006/relationships" id="256" r:id="R4f943a1de4014c2a"/>
    <p:sldId xmlns:r="http://schemas.openxmlformats.org/officeDocument/2006/relationships" id="257" r:id="R0c868923497d4896"/>
    <p:sldId xmlns:r="http://schemas.openxmlformats.org/officeDocument/2006/relationships" id="258" r:id="R05ac9facb87a4751"/>
    <p:sldId xmlns:r="http://schemas.openxmlformats.org/officeDocument/2006/relationships" id="259" r:id="Rf5b6614d08454a80"/>
    <p:sldId xmlns:r="http://schemas.openxmlformats.org/officeDocument/2006/relationships" id="260" r:id="R7e3f9ff2e4fc4049"/>
    <p:sldId xmlns:r="http://schemas.openxmlformats.org/officeDocument/2006/relationships" id="261" r:id="R08285a01f7314db9"/>
    <p:sldId xmlns:r="http://schemas.openxmlformats.org/officeDocument/2006/relationships" id="262" r:id="R6321a3c664434eb5"/>
    <p:sldId xmlns:r="http://schemas.openxmlformats.org/officeDocument/2006/relationships" id="263" r:id="Re776d4d1bf99489e"/>
    <p:sldId xmlns:r="http://schemas.openxmlformats.org/officeDocument/2006/relationships" id="264" r:id="R932ddc1e61d0422d"/>
    <p:sldId xmlns:r="http://schemas.openxmlformats.org/officeDocument/2006/relationships" id="265" r:id="Rfa5d52ea84f54859"/>
    <p:sldId xmlns:r="http://schemas.openxmlformats.org/officeDocument/2006/relationships" id="266" r:id="Rbaf77d6a95c94f7c"/>
    <p:sldId xmlns:r="http://schemas.openxmlformats.org/officeDocument/2006/relationships" id="267" r:id="R836d01768c4449cb"/>
    <p:sldId xmlns:r="http://schemas.openxmlformats.org/officeDocument/2006/relationships" id="268" r:id="Rd288eaad492b494a"/>
    <p:sldId xmlns:r="http://schemas.openxmlformats.org/officeDocument/2006/relationships" id="269" r:id="R4341e8598fc246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6bfc234994a5a" /><Relationship Type="http://schemas.openxmlformats.org/officeDocument/2006/relationships/slideMaster" Target="/ppt/slideMasters/slideMaster1.xml" Id="R755df7f8319d4fa8" /><Relationship Type="http://schemas.openxmlformats.org/officeDocument/2006/relationships/notesMaster" Target="/ppt/notesMasters/notesMaster1.xml" Id="R05eddbc8ac9748c8" /><Relationship Type="http://schemas.openxmlformats.org/officeDocument/2006/relationships/presProps" Target="/ppt/presProps.xml" Id="R2a14cdc0abc04a9b" /><Relationship Type="http://schemas.openxmlformats.org/officeDocument/2006/relationships/viewProps" Target="/ppt/viewProps.xml" Id="R41250455ef204c62" /><Relationship Type="http://schemas.openxmlformats.org/officeDocument/2006/relationships/tableStyles" Target="/ppt/tableStyles.xml" Id="R3ff1d3378a744666" /><Relationship Type="http://schemas.openxmlformats.org/officeDocument/2006/relationships/slide" Target="/ppt/slides/slide1.xml" Id="R4f943a1de4014c2a" /><Relationship Type="http://schemas.openxmlformats.org/officeDocument/2006/relationships/slide" Target="/ppt/slides/slide2.xml" Id="R0c868923497d4896" /><Relationship Type="http://schemas.openxmlformats.org/officeDocument/2006/relationships/slide" Target="/ppt/slides/slide3.xml" Id="R05ac9facb87a4751" /><Relationship Type="http://schemas.openxmlformats.org/officeDocument/2006/relationships/slide" Target="/ppt/slides/slide4.xml" Id="Rf5b6614d08454a80" /><Relationship Type="http://schemas.openxmlformats.org/officeDocument/2006/relationships/slide" Target="/ppt/slides/slide5.xml" Id="R7e3f9ff2e4fc4049" /><Relationship Type="http://schemas.openxmlformats.org/officeDocument/2006/relationships/slide" Target="/ppt/slides/slide6.xml" Id="R08285a01f7314db9" /><Relationship Type="http://schemas.openxmlformats.org/officeDocument/2006/relationships/slide" Target="/ppt/slides/slide7.xml" Id="R6321a3c664434eb5" /><Relationship Type="http://schemas.openxmlformats.org/officeDocument/2006/relationships/slide" Target="/ppt/slides/slide8.xml" Id="Re776d4d1bf99489e" /><Relationship Type="http://schemas.openxmlformats.org/officeDocument/2006/relationships/slide" Target="/ppt/slides/slide9.xml" Id="R932ddc1e61d0422d" /><Relationship Type="http://schemas.openxmlformats.org/officeDocument/2006/relationships/slide" Target="/ppt/slides/slide10.xml" Id="Rfa5d52ea84f54859" /><Relationship Type="http://schemas.openxmlformats.org/officeDocument/2006/relationships/slide" Target="/ppt/slides/slide11.xml" Id="Rbaf77d6a95c94f7c" /><Relationship Type="http://schemas.openxmlformats.org/officeDocument/2006/relationships/slide" Target="/ppt/slides/slide12.xml" Id="R836d01768c4449cb" /><Relationship Type="http://schemas.openxmlformats.org/officeDocument/2006/relationships/slide" Target="/ppt/slides/slide13.xml" Id="Rd288eaad492b494a" /><Relationship Type="http://schemas.openxmlformats.org/officeDocument/2006/relationships/slide" Target="/ppt/slides/slide14.xml" Id="R4341e8598fc2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bd41f7003641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ecc8ec67f44391" /><Relationship Type="http://schemas.openxmlformats.org/officeDocument/2006/relationships/notesMaster" Target="/ppt/notesMasters/notesMaster1.xml" Id="R15bd4bb51655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8327fd4e204c39" /><Relationship Type="http://schemas.openxmlformats.org/officeDocument/2006/relationships/notesMaster" Target="/ppt/notesMasters/notesMaster1.xml" Id="Re6e27e0232c8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35607ad1834f39" /><Relationship Type="http://schemas.openxmlformats.org/officeDocument/2006/relationships/notesMaster" Target="/ppt/notesMasters/notesMaster1.xml" Id="R81b255a92b524c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de8e871cd4f7d" /><Relationship Type="http://schemas.openxmlformats.org/officeDocument/2006/relationships/notesMaster" Target="/ppt/notesMasters/notesMaster1.xml" Id="R9c03ec7687614c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706ab31e22424c" /><Relationship Type="http://schemas.openxmlformats.org/officeDocument/2006/relationships/notesMaster" Target="/ppt/notesMasters/notesMaster1.xml" Id="R5f6196a909cb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30df6ab71249f2" /><Relationship Type="http://schemas.openxmlformats.org/officeDocument/2006/relationships/notesMaster" Target="/ppt/notesMasters/notesMaster1.xml" Id="R19c5f8c8d38d4f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926f0773044d9" /><Relationship Type="http://schemas.openxmlformats.org/officeDocument/2006/relationships/notesMaster" Target="/ppt/notesMasters/notesMaster1.xml" Id="R9da8e21e55d84c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06dcc0c644b02" /><Relationship Type="http://schemas.openxmlformats.org/officeDocument/2006/relationships/notesMaster" Target="/ppt/notesMasters/notesMaster1.xml" Id="Rb31be421fcf8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fb8301f6004629" /><Relationship Type="http://schemas.openxmlformats.org/officeDocument/2006/relationships/notesMaster" Target="/ppt/notesMasters/notesMaster1.xml" Id="R719f2d25ff1542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3f4e3d7b3e41a8" /><Relationship Type="http://schemas.openxmlformats.org/officeDocument/2006/relationships/notesMaster" Target="/ppt/notesMasters/notesMaster1.xml" Id="R15b6725ef30740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60fe4373c04dc0" /><Relationship Type="http://schemas.openxmlformats.org/officeDocument/2006/relationships/notesMaster" Target="/ppt/notesMasters/notesMaster1.xml" Id="Rbfb68cfac44c4e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3b0f07b8b54458" /><Relationship Type="http://schemas.openxmlformats.org/officeDocument/2006/relationships/notesMaster" Target="/ppt/notesMasters/notesMaster1.xml" Id="R01c8bfc289a545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d2b729679d4533" /><Relationship Type="http://schemas.openxmlformats.org/officeDocument/2006/relationships/notesMaster" Target="/ppt/notesMasters/notesMaster1.xml" Id="Ra4ca30c891174e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e6bda4c1c3420c" /><Relationship Type="http://schemas.openxmlformats.org/officeDocument/2006/relationships/notesMaster" Target="/ppt/notesMasters/notesMaster1.xml" Id="R789c6c6d8b1a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38b47ed6048c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2ab1235cf4044" /><Relationship Type="http://schemas.openxmlformats.org/officeDocument/2006/relationships/slideLayout" Target="/ppt/slideLayouts/slideLayout1.xml" Id="R06fe92fd833a4cc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e92fd833a4cc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d279c1d1848dc" /><Relationship Type="http://schemas.openxmlformats.org/officeDocument/2006/relationships/notesSlide" Target="/ppt/notesSlides/notesSlide1.xml" Id="R97024fd0caf84b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ec232ee414352" /><Relationship Type="http://schemas.openxmlformats.org/officeDocument/2006/relationships/image" Target="/ppt/media/image.png" Id="R7d9fbdb282ec49de" /><Relationship Type="http://schemas.openxmlformats.org/officeDocument/2006/relationships/image" Target="/ppt/media/image2.png" Id="R91e2565489b54d44" /><Relationship Type="http://schemas.openxmlformats.org/officeDocument/2006/relationships/image" Target="/ppt/media/image3.png" Id="R1e63e0184c674d4a" /><Relationship Type="http://schemas.openxmlformats.org/officeDocument/2006/relationships/image" Target="/ppt/media/image4.png" Id="R8a6e4bdf9fe24f86" /><Relationship Type="http://schemas.openxmlformats.org/officeDocument/2006/relationships/image" Target="/ppt/media/image5.png" Id="R5edd658ad5dc4d25" /><Relationship Type="http://schemas.openxmlformats.org/officeDocument/2006/relationships/image" Target="/ppt/media/image6.png" Id="R3a46a4703178401f" /><Relationship Type="http://schemas.openxmlformats.org/officeDocument/2006/relationships/image" Target="/ppt/media/image7.png" Id="R55478ee92324445f" /><Relationship Type="http://schemas.openxmlformats.org/officeDocument/2006/relationships/image" Target="/ppt/media/image8.png" Id="Rfbc1862fc52741c4" /><Relationship Type="http://schemas.openxmlformats.org/officeDocument/2006/relationships/image" Target="/ppt/media/image9.png" Id="Rc8ec9e871dde468e" /><Relationship Type="http://schemas.openxmlformats.org/officeDocument/2006/relationships/image" Target="/ppt/media/image10.png" Id="Rcb58053e2cf34e24" /><Relationship Type="http://schemas.openxmlformats.org/officeDocument/2006/relationships/notesSlide" Target="/ppt/notesSlides/notesSlide2.xml" Id="R19bc2c5332b1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059d66da4528" /><Relationship Type="http://schemas.openxmlformats.org/officeDocument/2006/relationships/image" Target="/ppt/media/image11.png" Id="Rb7d6a63cff794b05" /><Relationship Type="http://schemas.openxmlformats.org/officeDocument/2006/relationships/image" Target="/ppt/media/image12.png" Id="Ra0917482171e4136" /><Relationship Type="http://schemas.openxmlformats.org/officeDocument/2006/relationships/image" Target="/ppt/media/image13.png" Id="R5badb06b2ae14ed3" /><Relationship Type="http://schemas.openxmlformats.org/officeDocument/2006/relationships/image" Target="/ppt/media/image14.png" Id="Ra80ace0eca5343ce" /><Relationship Type="http://schemas.openxmlformats.org/officeDocument/2006/relationships/image" Target="/ppt/media/image15.png" Id="Ra2d109eb47ac49cd" /><Relationship Type="http://schemas.openxmlformats.org/officeDocument/2006/relationships/image" Target="/ppt/media/image16.png" Id="Rdf3c72fd99424953" /><Relationship Type="http://schemas.openxmlformats.org/officeDocument/2006/relationships/notesSlide" Target="/ppt/notesSlides/notesSlide3.xml" Id="Ra4c04a8736044a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0c52263274ce2" /><Relationship Type="http://schemas.openxmlformats.org/officeDocument/2006/relationships/image" Target="/ppt/media/image17.png" Id="R81e1977039664186" /><Relationship Type="http://schemas.openxmlformats.org/officeDocument/2006/relationships/image" Target="/ppt/media/image18.png" Id="Rda9e73f087324e97" /><Relationship Type="http://schemas.openxmlformats.org/officeDocument/2006/relationships/image" Target="/ppt/media/image19.png" Id="R3c649591272847ec" /><Relationship Type="http://schemas.openxmlformats.org/officeDocument/2006/relationships/notesSlide" Target="/ppt/notesSlides/notesSlide4.xml" Id="Re511cad0cb7548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683d9b805434e" /><Relationship Type="http://schemas.openxmlformats.org/officeDocument/2006/relationships/image" Target="/ppt/media/image20.png" Id="Ra76137d597504e95" /><Relationship Type="http://schemas.openxmlformats.org/officeDocument/2006/relationships/image" Target="/ppt/media/image21.png" Id="R32c19e3ebddb4f63" /><Relationship Type="http://schemas.openxmlformats.org/officeDocument/2006/relationships/image" Target="/ppt/media/image22.png" Id="R7c41ff72bd074e08" /><Relationship Type="http://schemas.openxmlformats.org/officeDocument/2006/relationships/notesSlide" Target="/ppt/notesSlides/notesSlide5.xml" Id="Raf219e51ff3040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80aeb86e64a93" /><Relationship Type="http://schemas.openxmlformats.org/officeDocument/2006/relationships/image" Target="/ppt/media/image23.png" Id="Rc95cd3315d554756" /><Relationship Type="http://schemas.openxmlformats.org/officeDocument/2006/relationships/image" Target="/ppt/media/image24.png" Id="R3def557d127446c2" /><Relationship Type="http://schemas.openxmlformats.org/officeDocument/2006/relationships/image" Target="/ppt/media/image25.png" Id="Rabb9cf727717440c" /><Relationship Type="http://schemas.openxmlformats.org/officeDocument/2006/relationships/notesSlide" Target="/ppt/notesSlides/notesSlide6.xml" Id="Rf076af6b9705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fa47bd0f44814" /><Relationship Type="http://schemas.openxmlformats.org/officeDocument/2006/relationships/image" Target="/ppt/media/image26.png" Id="R44daba9d239746a6" /><Relationship Type="http://schemas.openxmlformats.org/officeDocument/2006/relationships/image" Target="/ppt/media/image27.png" Id="R7545aac4c1784bc3" /><Relationship Type="http://schemas.openxmlformats.org/officeDocument/2006/relationships/image" Target="/ppt/media/image28.png" Id="Rd8a54c97cc444c40" /><Relationship Type="http://schemas.openxmlformats.org/officeDocument/2006/relationships/notesSlide" Target="/ppt/notesSlides/notesSlide7.xml" Id="R1ee593ae037f4c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0ae6af63e43c0" /><Relationship Type="http://schemas.openxmlformats.org/officeDocument/2006/relationships/image" Target="/ppt/media/image29.png" Id="R8bba864c496c4ac2" /><Relationship Type="http://schemas.openxmlformats.org/officeDocument/2006/relationships/image" Target="/ppt/media/image30.png" Id="R6ceb982a07714924" /><Relationship Type="http://schemas.openxmlformats.org/officeDocument/2006/relationships/image" Target="/ppt/media/image31.png" Id="R79427ad56dfe4836" /><Relationship Type="http://schemas.openxmlformats.org/officeDocument/2006/relationships/notesSlide" Target="/ppt/notesSlides/notesSlide8.xml" Id="Rf8609e1dba954e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463d3431745d2" /><Relationship Type="http://schemas.openxmlformats.org/officeDocument/2006/relationships/image" Target="/ppt/media/image32.png" Id="R2656983fc298497f" /><Relationship Type="http://schemas.openxmlformats.org/officeDocument/2006/relationships/image" Target="/ppt/media/image33.png" Id="R9d75a717c52843eb" /><Relationship Type="http://schemas.openxmlformats.org/officeDocument/2006/relationships/image" Target="/ppt/media/image34.png" Id="Rdba24d56d1b24a7f" /><Relationship Type="http://schemas.openxmlformats.org/officeDocument/2006/relationships/notesSlide" Target="/ppt/notesSlides/notesSlide9.xml" Id="R554b5bf378a340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d715ad9ba4af0" /><Relationship Type="http://schemas.openxmlformats.org/officeDocument/2006/relationships/image" Target="/ppt/media/image35.png" Id="R901dea51037b4cef" /><Relationship Type="http://schemas.openxmlformats.org/officeDocument/2006/relationships/image" Target="/ppt/media/image36.png" Id="Rccc04d622f624caf" /><Relationship Type="http://schemas.openxmlformats.org/officeDocument/2006/relationships/image" Target="/ppt/media/image37.png" Id="Rbe205a700bf849ae" /><Relationship Type="http://schemas.openxmlformats.org/officeDocument/2006/relationships/notesSlide" Target="/ppt/notesSlides/notesSlide10.xml" Id="R581cb75e0bac46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69c00bfed4344" /><Relationship Type="http://schemas.openxmlformats.org/officeDocument/2006/relationships/image" Target="/ppt/media/image38.png" Id="Re58e07171ded4b9a" /><Relationship Type="http://schemas.openxmlformats.org/officeDocument/2006/relationships/image" Target="/ppt/media/image39.png" Id="R1f928bb8a0014df7" /><Relationship Type="http://schemas.openxmlformats.org/officeDocument/2006/relationships/image" Target="/ppt/media/image40.png" Id="R0ad4b222a052428b" /><Relationship Type="http://schemas.openxmlformats.org/officeDocument/2006/relationships/notesSlide" Target="/ppt/notesSlides/notesSlide11.xml" Id="Rcba09925075548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26180a5f64482" /><Relationship Type="http://schemas.openxmlformats.org/officeDocument/2006/relationships/image" Target="/ppt/media/image41.png" Id="R1394a59f41d64747" /><Relationship Type="http://schemas.openxmlformats.org/officeDocument/2006/relationships/image" Target="/ppt/media/image42.png" Id="R0be66e3ab8e04dba" /><Relationship Type="http://schemas.openxmlformats.org/officeDocument/2006/relationships/image" Target="/ppt/media/image43.png" Id="Rf77873f62e104b17" /><Relationship Type="http://schemas.openxmlformats.org/officeDocument/2006/relationships/notesSlide" Target="/ppt/notesSlides/notesSlide12.xml" Id="R4158b16ad7c846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cd145fd524e41" /><Relationship Type="http://schemas.openxmlformats.org/officeDocument/2006/relationships/image" Target="/ppt/media/image44.png" Id="R228b965cc93b447c" /><Relationship Type="http://schemas.openxmlformats.org/officeDocument/2006/relationships/image" Target="/ppt/media/image45.png" Id="R7c571821a73d48bb" /><Relationship Type="http://schemas.openxmlformats.org/officeDocument/2006/relationships/image" Target="/ppt/media/image46.png" Id="R4f79791309594264" /><Relationship Type="http://schemas.openxmlformats.org/officeDocument/2006/relationships/notesSlide" Target="/ppt/notesSlides/notesSlide13.xml" Id="R5ae5fe2843a74a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41f57715b44d5" /><Relationship Type="http://schemas.openxmlformats.org/officeDocument/2006/relationships/image" Target="/ppt/media/image47.png" Id="Rcbec9a528ea64248" /><Relationship Type="http://schemas.openxmlformats.org/officeDocument/2006/relationships/image" Target="/ppt/media/image48.png" Id="R53f4772886d94f5e" /><Relationship Type="http://schemas.openxmlformats.org/officeDocument/2006/relationships/image" Target="/ppt/media/image49.png" Id="R03f21d3077d941b1" /><Relationship Type="http://schemas.openxmlformats.org/officeDocument/2006/relationships/image" Target="/ppt/media/image50.png" Id="Rd18eec7412be4745" /><Relationship Type="http://schemas.openxmlformats.org/officeDocument/2006/relationships/image" Target="/ppt/media/image51.png" Id="R96804d37021e4815" /><Relationship Type="http://schemas.openxmlformats.org/officeDocument/2006/relationships/image" Target="/ppt/media/image52.png" Id="R6f3b675011c34607" /><Relationship Type="http://schemas.openxmlformats.org/officeDocument/2006/relationships/image" Target="/ppt/media/image53.png" Id="R2aa1f7584d054d17" /><Relationship Type="http://schemas.openxmlformats.org/officeDocument/2006/relationships/image" Target="/ppt/media/image54.png" Id="Re48c445ba20a4621" /><Relationship Type="http://schemas.openxmlformats.org/officeDocument/2006/relationships/image" Target="/ppt/media/image55.png" Id="R6d80f612445e40d2" /><Relationship Type="http://schemas.openxmlformats.org/officeDocument/2006/relationships/image" Target="/ppt/media/image56.png" Id="Rfe4979cd0f964185" /><Relationship Type="http://schemas.openxmlformats.org/officeDocument/2006/relationships/notesSlide" Target="/ppt/notesSlides/notesSlide14.xml" Id="R3c9bfd14dd39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A027D7-BD20-4D86-BF91-71B1A637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146304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372D96-1F16-415B-B755-3322B74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F0184D-1975-42FA-9355-141DC9D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BLACKOCEAN TECHNOLOGIES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4A25F3-7F13-4165-B27E-72D37A03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8686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APDU Electrical Design Review</a:t>
            </a:r>
            <a:endParaRPr sz="4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B557A93-1C17-44B2-B1D0-A63903E9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 questions to close before schematics start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D55F44-2A0B-4AAD-9A60-0BE28A7E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3776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for Adherent360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Automated Pharmaceutical Dispensing Unit (AVM)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Baseline: Electrical System Level Wiring Diagram R24  ·  14 September 2026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96286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179BD9C-0E66-425B-A5B2-2E8A9B4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Review topics and meeting decisions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12702F-3D29-4850-B052-EE466261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Already closed: no E-stop (vending machine) · table-door actuator out of scope · MAINCTRL and DOORIO are off-the-shelf boards.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4DFA79-AC37-4B97-8438-97351EA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F0EBE9D-4990-46AA-AE02-BCE89002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fbdb282ec49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7F6D07C-48CB-45B1-9879-DB0F0C7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22EEE47-27D4-4EC5-9467-505C972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Gantry drives from the mechanical BOM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102214-2A82-4F12-9B7B-240002C1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10BAA35-57C9-40A6-AA52-85CC9A3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05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2565489b54d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19421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D0F436F-BDBB-4EDA-BF4A-EE6D882A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E91E623-CCAA-4451-874F-50078B39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830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Camera and OCR: needed?</a:t>
            </a:r>
            <a:endParaRPr sz="16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716D7F9-EEAE-4945-9630-08182B24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FB08CA2-87FD-438E-A3DF-392E5A3A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3e0184c67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DF538700-2DA3-448E-9BB6-D1997DD9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</a:t>
            </a:r>
            <a:endParaRPr sz="2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6461AF42-3300-4500-917A-FD18FD0C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/ battery: not approved</a:t>
            </a:r>
            <a:endParaRPr sz="16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B10DCB02-1940-4065-8F4E-C661D1D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060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48E2A1FB-4AE3-41A1-9B36-F356B412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9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e4bdf9fe2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28565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74673E1-02BC-42BC-A8CC-C7D5D541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974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</a:t>
            </a:r>
            <a:endParaRPr sz="2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9BCA37C-E462-4CA3-8434-32EFD96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Ethernet port location</a:t>
            </a:r>
            <a:endParaRPr sz="16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1D0740E-DFFA-4509-8DE2-A5E0BE2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9D66443-0D55-4547-ADB3-70446EA8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d658ad5dc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BD1E08A5-64A1-48A1-ABE4-A09ABA4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5</a:t>
            </a:r>
            <a:endParaRPr sz="2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077D31D-A880-46F6-807B-8C3A4B13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60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Cellular: not approved</a:t>
            </a:r>
            <a:endParaRPr sz="16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771971C6-4093-45E0-A9D8-60E9E64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04A352FF-C9FC-4AE5-AB15-6331947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93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9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6a4703178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37709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67DB7DDA-1425-432D-9751-0F18239F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118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6</a:t>
            </a:r>
            <a:endParaRPr sz="24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AE8BFAE9-56D3-4519-9172-538654B6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118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Product illumination</a:t>
            </a:r>
            <a:endParaRPr sz="16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70BBF923-F5E8-4036-9922-53C1AC2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94297B03-226C-42C3-9B4C-678F405A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78ee9232444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FE12B476-836E-4BF3-B99C-D1B2CF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7</a:t>
            </a:r>
            <a:endParaRPr sz="24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BF370E1F-AE9D-421F-941E-0B498ACC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iPad connection: QR, Wi-Fi or BLE</a:t>
            </a:r>
            <a:endParaRPr sz="16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E622D951-64F5-4A96-8D69-AB17C93D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4348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30381B8E-C83D-4AC6-B1C5-5E1CB41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37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1862fc527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46853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6364B750-036A-476E-8BA3-CEF8BCB4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262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8</a:t>
            </a:r>
            <a:endParaRPr sz="24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835DFBB8-5437-4115-85B6-8626B5E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5262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Wire harness drawings</a:t>
            </a:r>
            <a:endParaRPr sz="1600"/>
          </a:p>
        </p:txBody>
      </p:sp>
      <p:sp>
        <p:nvSpPr>
          <p:cNvPr id="44" name="Shape 34">
            <a:extLst xmlns:a="http://schemas.openxmlformats.org/drawingml/2006/main">
              <a:ext uri="{FF2B5EF4-FFF2-40B4-BE49-F238E27FC236}">
                <a16:creationId xmlns:a16="http://schemas.microsoft.com/office/drawing/2014/main" id="{911D91E8-B041-4FCC-B95E-4B449F6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7AF44A0F-79D0-4FA0-982F-C2AA0C2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c9e871dde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9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CD2CD91E-6913-481B-B9ED-E3E949B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9</a:t>
            </a:r>
            <a:endParaRPr sz="24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F977873E-5B8E-49EF-892A-E6B601CA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NFC and card reader</a:t>
            </a:r>
            <a:endParaRPr sz="16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CCF2B650-644E-4B64-A943-304A6BB6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49240"/>
            <a:ext cx="53949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5C89D03F-F370-47C1-898F-265B887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811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1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8053e2cf34e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2474" y="5599786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AE6680B7-D79A-43FF-908D-435992D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440680"/>
            <a:ext cx="457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10</a:t>
            </a:r>
            <a:endParaRPr sz="24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9FA1BD54-47E5-4BE4-A636-3E74F4F4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440680"/>
            <a:ext cx="38404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 standard</a:t>
            </a:r>
            <a:endParaRPr sz="1600"/>
          </a:p>
        </p:txBody>
      </p:sp>
      <p:sp>
        <p:nvSpPr>
          <p:cNvPr id="54" name="Text 42">
            <a:extLst xmlns:a="http://schemas.openxmlformats.org/drawingml/2006/main">
              <a:ext uri="{FF2B5EF4-FFF2-40B4-BE49-F238E27FC236}">
                <a16:creationId xmlns:a16="http://schemas.microsoft.com/office/drawing/2014/main" id="{C0E50FB5-9257-4C54-A60C-CC7C1BCB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55" name="Text 43">
            <a:extLst xmlns:a="http://schemas.openxmlformats.org/drawingml/2006/main">
              <a:ext uri="{FF2B5EF4-FFF2-40B4-BE49-F238E27FC236}">
                <a16:creationId xmlns:a16="http://schemas.microsoft.com/office/drawing/2014/main" id="{1931BCA8-D902-42D0-9427-18615882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57095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D1C703-12D8-4C00-AF60-43374F6D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972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Architecture baseline (R24)</a:t>
            </a:r>
            <a:endParaRPr sz="3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3EC9EB-3D23-4FD7-A341-750ADF0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22437-128A-434F-834F-93DEE49F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70</a:t>
            </a:r>
            <a:endParaRPr sz="4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2633241-3EDB-4626-A926-5FA6EAD2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conveyor lanes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10 rows × 7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819C5B5-06B8-4D63-90B1-4FD6B24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5ABFFF-2537-4491-AEBF-74835239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2A2BD7-10BA-4529-B8C3-A6413FB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custom boards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SYSCTRL · LANECTRL ×10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4AA3CF-768F-4965-92B4-D31F681C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63D6F4A-46A9-4997-AEB6-C58B8FF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2</a:t>
            </a:r>
            <a:endParaRPr sz="4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2BAB7A-C7BC-4AF4-BA99-D6FAB549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COTS controllers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MAINCTRL · DOORIO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0588597-AF42-4E13-97CE-752CD8CF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371600"/>
            <a:ext cx="2651760" cy="128016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2700">
            <a:solidFill>
              <a:srgbClr val="0B1F3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58EF05-AB40-4A4A-8127-2240F57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3898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2EC4B6"/>
                </a:solidFill>
                <a:latin typeface="Cambria"/>
                <a:ea typeface="Cambria"/>
                <a:cs typeface="Cambria"/>
              </a:rPr>
              <a:t>34</a:t>
            </a:r>
            <a:endParaRPr sz="4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3C6BCC6-AB76-4FE0-BD03-DB2DD1A3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574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cables W01–W34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≈ 125 m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C459015-51B9-4328-A013-A345DFC9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6a63cff794b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5864C74-65C5-4735-BC46-4AA7D52C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0360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Boards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47357E4-3850-48A1-9A73-1CE2E1D8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2928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= COTS MYIR MYD-YF13X (STM32MP135, Linux) · SYSCTRL custom STM32 (gantry + labeling) · DOORIO = COTS relay / IO module on RS485 · LANECTRL ×10 custom, our design, with the lane buttons and LEDs on the board.</a:t>
            </a:r>
            <a:endParaRPr sz="1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C6CE06C-C94C-4C80-B66B-75926E1B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17482171e4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38404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ABC9D41-BDA1-4766-87C5-6F0EC289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5032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Power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F92681C-56B5-46FC-A192-78A63D6D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57600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24 V motor rail · 12 V logic rail for every board · 48 V for the gantry drives · DIN fuses F1–F17.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83241CB-F94D-46E5-AB95-30F6071A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354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db06b2ae14e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64515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F877B042-975C-4D28-A523-EE9D7218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9704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Comms</a:t>
            </a:r>
            <a:endParaRPr sz="1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BA56A3B1-E83B-4853-BC24-38254035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62272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backbone to SYSCTRL and the 10 lane rows · RS485 to DOORIO · Ethernet / Wi-Fi to the site.</a:t>
            </a:r>
            <a:endParaRPr sz="11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0F4A1EB3-6386-46F6-A907-87C0EFE5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ace0eca5343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46B6D5BA-46A8-4927-9D37-BF651B2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4376"/>
            <a:ext cx="1188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3"/>
                </a:solidFill>
                <a:latin typeface="Calibri"/>
                <a:ea typeface="Calibri"/>
                <a:cs typeface="Calibri"/>
              </a:rPr>
              <a:t>Connectors</a:t>
            </a:r>
            <a:endParaRPr sz="14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6106B1E-CE4F-4F3B-8468-ECB2EC3E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6944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Micro-Fit 3.0 on every PCB · one standard 4c 22 AWG cable · every cable named and listed.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109eb47ac49cd"/>
          <a:srcRect xmlns:a="http://schemas.openxmlformats.org/drawingml/2006/main" l="1719" t="0" r="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2880360"/>
            <a:ext cx="5394960" cy="2532888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AE7DC5A8-EE51-4286-8F99-103D73CB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44068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Electrical System Level Wiring Diagram R24 (full drawing in draw.io; tables in APDU_Electrical_Tables_R23.xlsx)</a:t>
            </a:r>
            <a:endParaRPr sz="9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c72fd9942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640" y="5742432"/>
            <a:ext cx="1188720" cy="5943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FEEAD4AB-F090-4442-B92F-1B25427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60720"/>
            <a:ext cx="4114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conveyor CB002-24V-573mm: 24 V, ≤ 0.2 A idle, 5.8 cm/s, ≤ 6 kg — 70 of them, one LANECTRL per row of 7.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3D0FE6BE-5BD8-47A6-8074-F0DAED6E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CCCC8846-155D-40F5-AADD-48CD7C4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5179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CB07C61-4572-4313-B8E8-BAE82DD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1977039664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8A64B92-89A1-43C5-8E0D-EE77873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0127D01-D2D9-44A2-B39D-5BEFCD15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Gantry drives from the mechanical BOM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e73f087324e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5766B85-63A3-45D3-8BD8-673F0EB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48 V drive units with brake and driver built in; SYSCTRL sends step / direction and reads alarms.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8FF7B87-FDB2-48F0-BE2D-BF8E3E8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Emtech 57BYG250-76 closed-loop steppers, 2 N·m / 4 A, brake and driver integrated; X with a 3:1 gearbox.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New 48 V / 500 W supply (PSU3) for the two drive units; SYSCTRL keeps only STEP / DIR / ENA, ALARM and the brake outputs.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6 Omron EE-SX67x sensors with 1 m leads meet in JB-GANTRY; chains X 762 mm, Z 1616 mm.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CEB0A23-A3F1-4585-8EA2-07A66393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404BB98-FF2B-4187-9A28-6F51D8CC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49591272847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4B7223D-86BC-4053-8623-67F18B1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8143DFF-C5AE-4EF7-B7D8-DA56812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Drive datasheet: STEP / DIR signal level, ALARM output, who controls the brake?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48 V really needed, or would the 24 V rail do?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Generic drive acceptable, or a documented equivalent (Leadshine class)?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Labeling-mechanism BOM: when, and integrated drives there too?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9A83E0F-56CD-4FD4-9D90-C1CD4444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PSU count, SYSCTRL I/O, connectors J16 / J17, cables W11, W12, W29, W30.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27B6A5E-0963-4229-9FA9-5415BFB4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805E9B2-9016-438A-BD1F-60E848A6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63810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3F4826-C696-4E63-92D2-142CBED9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137d597504e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32E437-ED99-448D-9996-0DB896C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2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9353A75-86AD-4607-9A51-F7FE710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Camera and OCR: is it needed?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19e3ebddb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A167960-3D67-4204-B4BA-9BD782C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Taken out of the R24 baseline; the labeling station keeps the space and the ports for it.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9468721-01BC-4E80-91E9-DF012F6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R24 has no camera, no ring light and no camera cable; nothing from the customer defines one yet.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keeps a free USB 2.0 port and a spare Gigabit port, so a camera can be added later without a board change.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Without a camera the chuck needs another reference to orient the bottle for marking: a mechanical stop, a sensor, or one fixed bottle type.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DCD7E217-4AF5-45D1-ADD3-75DEB9E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74F6BDE-2E55-431E-BC6B-A5CE1C4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1ff72bd074e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CF295DF-E244-415C-8D70-5D82FC8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F333F08-483E-4468-A67D-4A5B5CE4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a camera needed at all: bottle orientation for marking, dispense verification, or an audit photo?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If yes: read text (OCR), or only find a mark or the label edge?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USB or Ethernet camera, and where does it mount: labeling station or retrieval bay?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Are images stored? Labels carry patient data, so retention and encryption rules apply.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59D190C-BDDF-4D6F-9673-7897424A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ring light and 24 V budget, one cable, labeling-station bracket.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9665593-FDDB-474E-A09A-B54C4C5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C7DBDB8-6BA6-42E6-9745-AAF25AB5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67911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599BA7-87AF-43AF-85DA-8DBB128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cd3315d554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100B6DB-A57A-4763-8A23-45884378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3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F8936B9-BFFE-42C7-81A5-7133262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UPS and battery backup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f557d127446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F16C801-6868-4DB6-BE61-B84FD1A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900" b="1" i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Rejected alternatives, retained only as a meeting record.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2A95535-175D-4387-8165-BCCAEF67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UPS and battery backup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considers backup power unnecessary.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system uses the existing AC-fed power supplies.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36B389B-7B9A-49AD-80C2-8B2F1833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1D04FD8-2FA8-4D5D-A15E-353B1F63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9cf72771744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63FC1E2-BF43-4418-B311-D1AE28D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ACE73EF-3341-49F6-AAC9-A4FB545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UPS and battery backup are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F9DE407D-C31A-4AAA-BE0F-1CE8426B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UPS or backup battery in the R24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C3BCA58-FD5B-4990-B113-5F990AF0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B9477AAB-AA50-4F57-8834-900D05CA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50705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6F1625-642A-450F-A696-889C9686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aba9d239746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C2C34EA-4493-41D4-90A0-84645E13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4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63DA096-FB1D-43E2-99AF-2F2EA94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Ethernet port location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aac4c1784b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3EDF74B-DFFC-4378-BD1D-AB9E387D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Rear panel as drawn in R24: one RJ45 feed-through, no switch inside the cabinet.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00415E3-71ED-456D-B82C-0DE8C6B0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RJ45 feed-through on the rear panel beside the AC inlet; Wi-Fi (USB module on MAINCTRL) is the backup path.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MAINCTRL has two Gigabit ports on board: one to the site, one spare for an Ethernet label marker. No switch in the cabinet.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One external port means one cable and one MAC address on the pharmacy network.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910C038-8429-4AAB-89F7-F825CDF1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F708906-969C-4FA3-86E1-8F697E3F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54c97cc444c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5EE2D16-4EC6-462B-9DF4-72218A7B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3D486FF-7853-4CC6-87B1-BE4B466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Rear, side or bottom for the port, and how close to the wall does the unit stand?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Static IP or DHCP; any VLAN or firewall rules?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the label marker Ethernet or USB?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Is Wi-Fi acceptable as the only link at some sites?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E6AA9C2-432A-429F-8C58-6FB63110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rear-panel cut-outs, cabinet BOM, IT onboarding sheet.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76AE3EA-C30E-41E3-9972-BF725B0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ACEC0842-D647-4334-BCAD-07C3FBD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75059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5AA942-2C2D-4AF4-ACBC-E96E51A2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a864c496c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45B74E6-873C-4BCF-9AA5-51C7667E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5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036496E-C654-4F84-8B5E-27995CA4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Cellular (LTE) modem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b982a0771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1640" y="1645920"/>
            <a:ext cx="3108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02D307-E87B-4D6C-885E-147FB3F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MYIR MYD-YF13X MAINCTRL board. Cellular hardware will not be fitted.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B03C8CA-55E7-4EBD-A2E1-1F415533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customer rejected cellular connectivity during the meeting.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site network carries the vend API and remote service.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cellular modem, SIM, data plan or LTE antennas are included.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9BC018E2-C770-4537-9EFE-0042C83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E1E1367-A2EB-4B70-BCD7-CA21F52F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27ad56dfe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F9DE50F-3D9F-432A-A2D5-AFB4D9F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BE3A2B"/>
                </a:solidFill>
              </a:defRPr>
            </a:pPr>
            <a:r>
              <a:rPr sz="1100" b="1" spc="200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MEETING DECISION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C1E208A-A55D-470F-B07F-BA64167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Not approved during the meeting.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Cellular connectivity is not required.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  <a:defRPr sz="1950" b="1">
                <a:solidFill>
                  <a:srgbClr val="BE3A2B"/>
                </a:solidFill>
              </a:defRPr>
            </a:pPr>
            <a:r>
              <a:rPr sz="1950" b="1">
                <a:solidFill>
                  <a:srgbClr val="BE3A2B"/>
                </a:solidFill>
                <a:latin typeface="Calibri"/>
                <a:ea typeface="Calibri"/>
                <a:cs typeface="Calibri"/>
              </a:rPr>
              <a:t>Excluded from the electrical design.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855F591-64B2-4993-97DF-3EAD8E0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Closed: no cellular connection in the R24 drawing.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F7EDC78F-F5DA-4CD2-B112-B31CBF0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3BDA513B-B708-40B3-AA9B-E59E527C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5077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54CC30C-2C20-4345-A035-F7C1898E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6983fc29849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6D84E4B-8E12-4881-B01B-C57B1B7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6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4355AF1-9E7E-4B0A-B82C-FC46A2E4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Product illumination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5a717c528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632F5F8-4CA3-4D5D-AC3F-C80FA4D2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Three candidate zones, each on its own 12 V output.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1E6D770-BE39-4DEC-A9AC-8C7C2F8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No lighting in the R24 baseline.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Proposal: 12 V LED strips per zone driven by SYSCTRL outputs — lane shelves, retrieval bay, return bay — switched on by events.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Same Micro-Fit connectors; about 1 A of 12 V per zone.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E9BB33A-9891-4E23-9B2F-34EA12B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D8A7837-D617-41D5-AC80-12FDE22F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4d56d1b24a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3025F1A-6AD1-48D2-99FE-2175A63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5A43D6F-BE36-42A0-91F5-3202B71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zones need light?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For the customer through a window, or for staff during restocking?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Always on, or only on events?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Neutral white, or a status colour at the retrieval bay?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2A75F12-A083-4DCD-97C8-21E1E932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SYSCTRL outputs, 12 V budget, row harness routing.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AD23FE8-19C3-4F73-A1E5-71255C61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C2D9C18-2735-4949-A544-83C63F01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1714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28BE3A-4C66-450E-88A4-DD4DA616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dea51037b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C623219-61F6-4C52-B25E-880F869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7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4DB0E5-8BE1-4231-8816-CE105348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iPad connection: QR code, Wi-Fi or BLE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04d622f624c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6EF7412-DF21-475A-BC7C-7BFF774A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Recommended flow: same LAN, mDNS discovery, printed QR code for first pairing.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4E3F3E-3594-4170-BB6D-85060F11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The iPad talks to the unit over the pharmacy LAN; the unit talks to the Adherent servers.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Recommended: mDNS discovery plus a printed QR code (unit ID and pairing token). No extra hardware.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BLE only if proximity pairing is wanted; it needs the optional USB Wi-Fi / BT module, the board has no radio on board.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FF53A82-6683-4BBC-A6DE-713C2B5A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9CA921D-2989-4C31-AE8B-9F88404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05a700bf8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00A5728-3ACC-4DE4-B3CA-B485691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2772F1F-3196-4D1F-9FF1-4064F1C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Will the iPad be on the pharmacy Wi-Fi, or must it work without the site network?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Printed QR code acceptable, or a dynamic code on the unit?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How many units per pharmacy?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owns authentication: the Adherent cloud or a local login?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23B8383-1B8D-4C98-8526-28DD3C46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software scope, cabinet label, antenna placement.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310C3A4-0112-489B-83BC-A55B5FE0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23D2FB1-3E57-4D04-B253-A8445295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7274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BD0CAE9-01E7-4F6E-BB98-AAA9186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e07171ded4b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E2CD32C-E307-4118-8C02-F0B8C06D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8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0AE24C7-DC1D-4C10-869B-E5579ACE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Wire harness drawings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28bb8a0014d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1645920"/>
            <a:ext cx="457200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7421D28-BA2E-4CBB-8C30-92E6051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Lane rows in R24: every cable already carries its W number and appears in the cable list.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590CD8D-222F-4278-A92A-04919703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Next deliverable: one drawing per cable, W01–W34, derived from the R24 diagram and the cable list.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Lengths estimated from the CAD envelope (855 × 890 × 1905 mm): about 125 m in total, 146 m of the standard 4c 22 AWG cable.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Routing paths and chain fill are needed from the mechanical team before lengths are final.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42A51818-00EB-4C70-AA57-51AA393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430D019-6D42-4263-935A-9FF5DA50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4b222a052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5B010AA-EF02-45B3-8AB5-ADA3E90B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B47E891-CCDE-4F2A-B858-1E5568B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Can we get the cable routing paths and the chain inner sizes?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Service loops or blind-mate connectors on the drawer rows?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Who builds the harnesses: us, a harness shop, or the integrator?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Any existing colour or labelling convention?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4A29272-80B3-4AC2-8244-AF85F0A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harness drawing effort, connector counts, BOM v1 timing.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09C8379-C24E-4E3B-A193-206A09EC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E6BE635-BF59-41D6-8CB8-07114433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4075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6FF234-32EA-4CC6-88C1-7BC4059F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4a59f41d64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D236DBE-6381-42B1-975E-F21E8E0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9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6F3DB92-9A0A-494B-A726-4A3E685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NFC and card reader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66e3ab8e0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22402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3D87945-A93F-468F-AE97-A9827A4B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Not in R24 yet; the cut-out and cable can be planned now.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2FFEB43-28F8-4A23-85BB-EE7F29F4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51960"/>
            <a:ext cx="53949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Natural place: front panel next to the retrieval door, USB to MAINCTRL.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NFC / RFID reader: small cost and one USB port. Payment terminal: a certified third-party device.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Plan the panel cut-out and cable now even if the reader comes later.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0790AB8-9CCA-444F-B827-0DA28634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4DA3D9E-4DA9-48E9-91E4-12955D0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873f62e10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BD97BD32-2F3D-4CC8-8FCB-914CB389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29FF966-30DF-4C1C-B03D-6D220FE8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Use case: staff login, patient pickup, or payment?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Which card: badge, patient ID, insurance, credit, phone wallet?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Where should the reader sit?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Validated in the Adherent cloud, or locally?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DCEBBFD-61BF-47AA-8D4D-AE0247BA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MAINCTRL USB ports, front-panel cut-out, security scope.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9EBDC0F-2AF8-486B-8156-D33AACD7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2512A91-28D6-4782-AC26-0A362E9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27110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58A8C41-E5D4-43F9-956E-908EA88B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b965cc93b44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150" y="700430"/>
            <a:ext cx="427939" cy="42793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57EC5BA-D028-4EAA-8988-60E9047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7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TOPIC 10 OF 10</a:t>
            </a:r>
            <a:endParaRPr sz="11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5040DCE-2021-4EB3-99C5-095B92E6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713232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B1F33"/>
                </a:solidFill>
                <a:latin typeface="Cambria"/>
                <a:ea typeface="Cambria"/>
                <a:cs typeface="Cambria"/>
              </a:rPr>
              <a:t>Connector standard</a:t>
            </a:r>
            <a:endParaRPr sz="3200"/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71821a73d48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45920"/>
            <a:ext cx="5394960" cy="1709928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CD30946-18FA-4808-8A69-6EA1CA9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1568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Micro-Fit 3.0 parts used on every board (illustration).</a:t>
            </a:r>
            <a:endParaRPr sz="9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6A60042-E642-43C0-AEF9-4E0DCD06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21608"/>
            <a:ext cx="5394960" cy="2267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Every PCB input and output: Molex Micro-Fit 3.0, 3 mm pitch, 5 A per pin, one crimp tool.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Panel: Schaffner IEC inlet, Neutrik RJ45, RP-SMA; DIN fuse terminals. Conveyor side: its own 3-position screw terminal.</a:t>
            </a:r>
            <a:endParaRPr sz="13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Lane buttons and LEDs sit on the LANECTRL board itself, no extra harness; junction boxes use ferrules and WAGO 221.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9DA66B12-4CDC-49CE-A985-FB721499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349240" cy="448056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12700">
            <a:solidFill>
              <a:srgbClr val="F1F6F8"/>
            </a:solidFill>
            <a:prstDash val="solid"/>
          </a:ln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7FE0B55-8B13-45F2-80D1-AE072DA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470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6A"/>
          </a:solidFill>
          <a:ln xmlns:a="http://schemas.openxmlformats.org/drawingml/2006/main" w="12700">
            <a:solidFill>
              <a:srgbClr val="E8756A"/>
            </a:solidFill>
            <a:prstDash val="solid"/>
          </a:ln>
        </p:spPr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9791309594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0132" y="1939260"/>
            <a:ext cx="199705" cy="19970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56C4051-F514-49E4-A3CC-46D8ABDB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7452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E8756A"/>
                </a:solidFill>
                <a:latin typeface="Calibri"/>
                <a:ea typeface="Calibri"/>
                <a:cs typeface="Calibri"/>
              </a:rPr>
              <a:t>QUESTIONS FOR ADHERENT360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AE0BBAB-52FA-454D-9A8A-0A8B275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493776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Approved connector vendor list to follow?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Tool-less field replacement of a LANECTRL or a conveyor expected?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IP rating for the front bays?</a:t>
            </a:r>
            <a:endParaRPr sz="1500"/>
          </a:p>
          <a:p xmlns:a="http://schemas.openxmlformats.org/drawingml/2006/main"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sz="1500">
                <a:solidFill>
                  <a:srgbClr val="1A1F24"/>
                </a:solidFill>
                <a:latin typeface="Calibri"/>
                <a:ea typeface="Calibri"/>
                <a:cs typeface="Calibri"/>
              </a:rPr>
              <a:t>Keyed or colour-coded housings so rows cannot be cross-plugged?</a:t>
            </a:r>
            <a:endParaRPr sz="15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DF43C3AF-F775-4F23-B3F8-6CCC0130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172200"/>
            <a:ext cx="5349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Affects: BOM v1 connector lines, LANECTRL layout, service documentation.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A839A29-FC30-4433-A53A-906470A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Blackocean Technologies  ·  Adherent360 APDU  ·  Design review  ·  14 Sep 2026</a:t>
            </a:r>
            <a:endParaRPr sz="10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8BADDCD-C112-4ABC-BBA9-CB8605A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502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480"/>
                </a:solidFill>
                <a:latin typeface="Calibri"/>
                <a:ea typeface="Calibri"/>
                <a:cs typeface="Calibri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19634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9B2BC48-743A-45D3-9371-B061B15D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20116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E4A"/>
          </a:solidFill>
          <a:ln xmlns:a="http://schemas.openxmlformats.org/drawingml/2006/main" w="12700">
            <a:solidFill>
              <a:srgbClr val="112E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647E1A-2DFD-4A4B-B9CA-FAD6D33A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Meeting decisions and remaining questions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9AC6AD-429E-42CD-8F0F-238B5DBC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c9a528ea64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160971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EE76798-37A3-47A1-B4F4-8F1E43D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Gantry drives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488A93C-94A3-49F1-BDCB-FB3F27B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48 V confirmed · drive interface · datasheet</a:t>
            </a:r>
            <a:endParaRPr sz="11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E53356-D257-4FC5-95B2-FA51CD3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4772886d94f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160971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B403F4-8FFA-440A-89CC-31236CBF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17320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/ OCR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D718803-3F22-4B08-BD03-A805F76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4650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needed at all · purpose · USB vs Ethernet</a:t>
            </a:r>
            <a:endParaRPr sz="11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2164EB9-CE7B-4D79-9717-3430309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21d3077d941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25058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DF2B843-B542-4DB0-AD8E-875CDE5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Backup power</a:t>
            </a:r>
            <a:endParaRPr sz="15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F8156C5-ADFC-43BA-87ED-411C2EC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9BF71F0-EFB3-4D32-AA29-ADCA2E3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048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eec7412be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250582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7119D4C-5574-4F71-8DB5-086D72D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1343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</a:t>
            </a:r>
            <a:endParaRPr sz="15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30208B8B-C76B-4C23-B0C0-C85731E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4261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port location · IP policy</a:t>
            </a:r>
            <a:endParaRPr sz="11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F75C6729-11B9-4042-8D54-664D4D23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009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04d37021e4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34019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49DAEB17-C066-40FC-9FB4-8C610A3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Cellular</a:t>
            </a:r>
            <a:endParaRPr sz="15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47AF4175-93D6-45F8-B97F-22253BB8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FF7777"/>
                </a:solidFill>
              </a:defRPr>
            </a:pPr>
            <a:r>
              <a:rPr sz="1150" b="1">
                <a:solidFill>
                  <a:srgbClr val="FF7777"/>
                </a:solidFill>
                <a:latin typeface="Calibri"/>
                <a:ea typeface="Calibri"/>
                <a:cs typeface="Calibri"/>
              </a:rPr>
              <a:t>Not approved in the meeting. Not required.</a:t>
            </a:r>
            <a:endParaRPr sz="11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EE82A764-972D-43B3-AB6B-6334A84E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009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b675011c34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3401934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B049D394-E2F3-46F7-B8D7-D359D83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9544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Lighting</a:t>
            </a:r>
            <a:endParaRPr sz="15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A2951275-A80A-4972-B55D-43F73A4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387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zones · event-driven vs always on · colour</a:t>
            </a:r>
            <a:endParaRPr sz="11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AF9FADD6-C7AF-472E-B93D-9FA2610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970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8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1f7584d054d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429804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53A3473-3215-40AB-BC61-3D824EE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iPad pairing</a:t>
            </a:r>
            <a:endParaRPr sz="15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AF927AF6-50A9-4C38-AB9A-440281E7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 + QR (recommended) vs AP mode vs BLE</a:t>
            </a:r>
            <a:endParaRPr sz="11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830BC47C-0055-4568-9A36-3EA22E00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970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8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c445ba20a4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4298046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ECB00F7A-52E5-468A-B5F7-799511F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05656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Harnesses</a:t>
            </a:r>
            <a:endParaRPr sz="15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5BCFC1C7-E571-46CE-BF30-458A2D78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43484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routing paths from mechanical · who builds</a:t>
            </a:r>
            <a:endParaRPr sz="11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6DD6AD00-2311-4D2D-A689-086CE204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9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0f612445e40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0" y="519415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1926D1C7-31BC-4654-A0ED-6EE5FF2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NFC / card</a:t>
            </a:r>
            <a:endParaRPr sz="1500"/>
          </a:p>
        </p:txBody>
      </p:sp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BFD39E94-E5CB-4914-8EEA-6B2ED42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use case · card type · location</a:t>
            </a:r>
            <a:endParaRPr sz="1150"/>
          </a:p>
        </p:txBody>
      </p:sp>
      <p:sp>
        <p:nvSpPr>
          <p:cNvPr id="40" name="Shape 29">
            <a:extLst xmlns:a="http://schemas.openxmlformats.org/drawingml/2006/main">
              <a:ext uri="{FF2B5EF4-FFF2-40B4-BE49-F238E27FC236}">
                <a16:creationId xmlns:a16="http://schemas.microsoft.com/office/drawing/2014/main" id="{99D49FE9-D51F-4521-AE95-1B8E1586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12700">
            <a:solidFill>
              <a:srgbClr val="2EC4B6"/>
            </a:solidFill>
            <a:prstDash val="solid"/>
          </a:ln>
        </p:spPr>
      </p:sp>
      <p:pic>
        <p:nvPicPr>
          <p:cNvPr id="9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979cd0f96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0310" y="519415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52FD01F5-487C-417A-A058-247F6F0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01768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Connectors</a:t>
            </a:r>
            <a:endParaRPr sz="15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44DFA49D-6372-4F83-8C24-FDF613AB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309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vendor list · tool-less service · IP rating</a:t>
            </a:r>
            <a:endParaRPr sz="1150"/>
          </a:p>
        </p:txBody>
      </p:sp>
      <p:sp>
        <p:nvSpPr>
          <p:cNvPr id="44" name="Text 32">
            <a:extLst xmlns:a="http://schemas.openxmlformats.org/drawingml/2006/main">
              <a:ext uri="{FF2B5EF4-FFF2-40B4-BE49-F238E27FC236}">
                <a16:creationId xmlns:a16="http://schemas.microsoft.com/office/drawing/2014/main" id="{9D054095-7B11-4D7C-AE51-B547DFE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350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2EC4B6"/>
                </a:solidFill>
                <a:latin typeface="Calibri"/>
                <a:ea typeface="Calibri"/>
                <a:cs typeface="Calibri"/>
              </a:rPr>
              <a:t>R24 removes cellular and backup power. The remaining questions stay open for the team.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084010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2026-09-14T14:26:49.7010000Z</dcterms:created>
  <dcterms:modified xsi:type="dcterms:W3CDTF">2026-09-14T14:26:49.7010000Z</dcterms:modified>
</coreProperties>
</file>