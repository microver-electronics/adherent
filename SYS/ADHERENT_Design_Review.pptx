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251fe487714232" /><Relationship Type="http://schemas.openxmlformats.org/officeDocument/2006/relationships/extended-properties" Target="/docProps/app.xml" Id="Rd9791d66b75a4247" /><Relationship Type="http://schemas.openxmlformats.org/officeDocument/2006/relationships/officeDocument" Target="/ppt/presentation.xml" Id="Rb7799830510842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85caaa37dd4471"/>
  </p:sldMasterIdLst>
  <p:notesMasterIdLst>
    <p:notesMasterId xmlns:r="http://schemas.openxmlformats.org/officeDocument/2006/relationships" r:id="R6e5b4d1c1e59442a"/>
  </p:notesMasterIdLst>
  <p:sldIdLst>
    <p:sldId xmlns:r="http://schemas.openxmlformats.org/officeDocument/2006/relationships" id="256" r:id="R9231586ed33546a6"/>
    <p:sldId xmlns:r="http://schemas.openxmlformats.org/officeDocument/2006/relationships" id="257" r:id="R76c1d5970dc44faf"/>
    <p:sldId xmlns:r="http://schemas.openxmlformats.org/officeDocument/2006/relationships" id="258" r:id="R1d90c6fc5e3744c4"/>
    <p:sldId xmlns:r="http://schemas.openxmlformats.org/officeDocument/2006/relationships" id="259" r:id="R37a99891405748e0"/>
    <p:sldId xmlns:r="http://schemas.openxmlformats.org/officeDocument/2006/relationships" id="260" r:id="R5323b8088ae54ba9"/>
    <p:sldId xmlns:r="http://schemas.openxmlformats.org/officeDocument/2006/relationships" id="261" r:id="Rc22ecc6fe8ea4f1c"/>
    <p:sldId xmlns:r="http://schemas.openxmlformats.org/officeDocument/2006/relationships" id="262" r:id="Rb74c704f47964dfc"/>
    <p:sldId xmlns:r="http://schemas.openxmlformats.org/officeDocument/2006/relationships" id="263" r:id="Rfe4fe6c9570a494c"/>
    <p:sldId xmlns:r="http://schemas.openxmlformats.org/officeDocument/2006/relationships" id="264" r:id="R09c7419c24b14277"/>
    <p:sldId xmlns:r="http://schemas.openxmlformats.org/officeDocument/2006/relationships" id="265" r:id="Red7bdb1b11ec4b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6aae2be3b24245" /><Relationship Type="http://schemas.openxmlformats.org/officeDocument/2006/relationships/slideMaster" Target="/ppt/slideMasters/slideMaster1.xml" Id="Rd585caaa37dd4471" /><Relationship Type="http://schemas.openxmlformats.org/officeDocument/2006/relationships/notesMaster" Target="/ppt/notesMasters/notesMaster1.xml" Id="R6e5b4d1c1e59442a" /><Relationship Type="http://schemas.openxmlformats.org/officeDocument/2006/relationships/presProps" Target="/ppt/presProps.xml" Id="R2a81518c82694d7e" /><Relationship Type="http://schemas.openxmlformats.org/officeDocument/2006/relationships/viewProps" Target="/ppt/viewProps.xml" Id="R8697d464adea459a" /><Relationship Type="http://schemas.openxmlformats.org/officeDocument/2006/relationships/tableStyles" Target="/ppt/tableStyles.xml" Id="R17be9ccb958644d1" /><Relationship Type="http://schemas.openxmlformats.org/officeDocument/2006/relationships/slide" Target="/ppt/slides/slide1.xml" Id="R9231586ed33546a6" /><Relationship Type="http://schemas.openxmlformats.org/officeDocument/2006/relationships/slide" Target="/ppt/slides/slide2.xml" Id="R76c1d5970dc44faf" /><Relationship Type="http://schemas.openxmlformats.org/officeDocument/2006/relationships/slide" Target="/ppt/slides/slide3.xml" Id="R1d90c6fc5e3744c4" /><Relationship Type="http://schemas.openxmlformats.org/officeDocument/2006/relationships/slide" Target="/ppt/slides/slide4.xml" Id="R37a99891405748e0" /><Relationship Type="http://schemas.openxmlformats.org/officeDocument/2006/relationships/slide" Target="/ppt/slides/slide5.xml" Id="R5323b8088ae54ba9" /><Relationship Type="http://schemas.openxmlformats.org/officeDocument/2006/relationships/slide" Target="/ppt/slides/slide6.xml" Id="Rc22ecc6fe8ea4f1c" /><Relationship Type="http://schemas.openxmlformats.org/officeDocument/2006/relationships/slide" Target="/ppt/slides/slide7.xml" Id="Rb74c704f47964dfc" /><Relationship Type="http://schemas.openxmlformats.org/officeDocument/2006/relationships/slide" Target="/ppt/slides/slide8.xml" Id="Rfe4fe6c9570a494c" /><Relationship Type="http://schemas.openxmlformats.org/officeDocument/2006/relationships/slide" Target="/ppt/slides/slide9.xml" Id="R09c7419c24b14277" /><Relationship Type="http://schemas.openxmlformats.org/officeDocument/2006/relationships/slide" Target="/ppt/slides/slide10.xml" Id="Red7bdb1b11ec4b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a9f6b35de141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670ff8b36944c4" /><Relationship Type="http://schemas.openxmlformats.org/officeDocument/2006/relationships/notesMaster" Target="/ppt/notesMasters/notesMaster1.xml" Id="R9f4f19dec34f47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216e219c174ddd" /><Relationship Type="http://schemas.openxmlformats.org/officeDocument/2006/relationships/notesMaster" Target="/ppt/notesMasters/notesMaster1.xml" Id="Rdcb0b9ad49854f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17b27e60d54e22" /><Relationship Type="http://schemas.openxmlformats.org/officeDocument/2006/relationships/notesMaster" Target="/ppt/notesMasters/notesMaster1.xml" Id="R8909955f1fa74d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15f33bbb974721" /><Relationship Type="http://schemas.openxmlformats.org/officeDocument/2006/relationships/notesMaster" Target="/ppt/notesMasters/notesMaster1.xml" Id="R7c0c7fffb90345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251cdf82be4674" /><Relationship Type="http://schemas.openxmlformats.org/officeDocument/2006/relationships/notesMaster" Target="/ppt/notesMasters/notesMaster1.xml" Id="R84fd3c7583c442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741daa6c3545c0" /><Relationship Type="http://schemas.openxmlformats.org/officeDocument/2006/relationships/notesMaster" Target="/ppt/notesMasters/notesMaster1.xml" Id="R815e5e9ee89745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4b9de55dbc42d5" /><Relationship Type="http://schemas.openxmlformats.org/officeDocument/2006/relationships/notesMaster" Target="/ppt/notesMasters/notesMaster1.xml" Id="R71b44223c3e748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a772f6eeed4d18" /><Relationship Type="http://schemas.openxmlformats.org/officeDocument/2006/relationships/notesMaster" Target="/ppt/notesMasters/notesMaster1.xml" Id="R8973d2ffa6de4d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44bd17fe6b4384" /><Relationship Type="http://schemas.openxmlformats.org/officeDocument/2006/relationships/notesMaster" Target="/ppt/notesMasters/notesMaster1.xml" Id="Ra8b6399868634c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1353d7ab6f42f4" /><Relationship Type="http://schemas.openxmlformats.org/officeDocument/2006/relationships/notesMaster" Target="/ppt/notesMasters/notesMaster1.xml" Id="R50fff18742a54d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SYS/ADHERENT_System_Wiring_Diagram.drawio; SYS/ADHERENT_Electrical_Tables.xlsx; brain.md. Current architecture: PSU1 24 V, SYSCTRL integrated 12 V SMPS and power connectors, CAN row control and RS485 IOCTRL. Unresolved interfaces retain TBC.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SYS/ADHERENT_System_Wiring_Diagram.drawio; SYS/ADHERENT_Electrical_Tables.xlsx; brain.md. Current architecture: PSU1 24 V, SYSCTRL integrated 12 V SMPS and power connectors, CAN row control and RS485 IOCTRL. Unresolved interfaces retain TBC.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SYS/ADHERENT_System_Wiring_Diagram.drawio; SYS/ADHERENT_Electrical_Tables.xlsx; brain.md. Current architecture: PSU1 24 V, SYSCTRL integrated 12 V SMPS and power connectors, CAN row control and RS485 IOCTRL. Unresolved interfaces retain TBC.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SYS/ADHERENT_System_Wiring_Diagram.drawio; SYS/ADHERENT_Electrical_Tables.xlsx; brain.md. Current architecture: PSU1 24 V, SYSCTRL integrated 12 V SMPS and power connectors, CAN row control and RS485 IOCTRL. Unresolved interfaces retain TBC.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SYS/ADHERENT_System_Wiring_Diagram.drawio; SYS/ADHERENT_Electrical_Tables.xlsx; brain.md. Current architecture: PSU1 24 V, SYSCTRL integrated 12 V SMPS and power connectors, CAN row control and RS485 IOCTRL. Unresolved interfaces retain TBC. Ethernet adapter: https://www.mcmaster.com/product/1422N13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SYS/ADHERENT_System_Wiring_Diagram.drawio; SYS/ADHERENT_Electrical_Tables.xlsx; brain.md. Current architecture: PSU1 24 V, SYSCTRL integrated 12 V SMPS and power connectors, CAN row control and RS485 IOCTRL. Unresolved interfaces retain TBC.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SYS/ADHERENT_System_Wiring_Diagram.drawio; SYS/ADHERENT_Electrical_Tables.xlsx; brain.md. Current architecture: PSU1 24 V, SYSCTRL integrated 12 V SMPS and power connectors, CAN row control and RS485 IOCTRL. Unresolved interfaces retain TBC.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SYS/ADHERENT_System_Wiring_Diagram.drawio; SYS/ADHERENT_Electrical_Tables.xlsx; brain.md. Current architecture: PSU1 24 V, SYSCTRL integrated 12 V SMPS and power connectors, CAN row control and RS485 IOCTRL. Unresolved interfaces retain TBC. NFC source: https://www.molex.com/en-us/products/part-detail/1462362151 and https://www.digikey.com/en/products/detail/molex/1462362151/15204370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SYS/ADHERENT_System_Wiring_Diagram.drawio; SYS/ADHERENT_Electrical_Tables.xlsx; brain.md. Current architecture: PSU1 24 V, SYSCTRL integrated 12 V SMPS and power connectors, CAN row control and RS485 IOCTRL. Unresolved interfaces retain TBC.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SYS/ADHERENT_System_Wiring_Diagram.drawio; SYS/ADHERENT_Electrical_Tables.xlsx; brain.md. Current architecture: PSU1 24 V, SYSCTRL integrated 12 V SMPS and power connectors, CAN row control and RS485 IOCTRL. Unresolved interfaces retain TBC.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72635123ed450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bfa39de7084ac6" /><Relationship Type="http://schemas.openxmlformats.org/officeDocument/2006/relationships/slideLayout" Target="/ppt/slideLayouts/slideLayout1.xml" Id="R5ab503d1607f4d3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b503d1607f4d3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da22719114a78" /><Relationship Type="http://schemas.openxmlformats.org/officeDocument/2006/relationships/notesSlide" Target="/ppt/notesSlides/notesSlide1.xml" Id="Re52237ab99d940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0346dea2e4beb" /><Relationship Type="http://schemas.openxmlformats.org/officeDocument/2006/relationships/notesSlide" Target="/ppt/notesSlides/notesSlide2.xml" Id="R01a286e474f941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b21ce1e074543" /><Relationship Type="http://schemas.openxmlformats.org/officeDocument/2006/relationships/image" Target="/ppt/media/image.png" Id="Rd7e87c4439ca429d" /><Relationship Type="http://schemas.openxmlformats.org/officeDocument/2006/relationships/image" Target="/ppt/media/image2.png" Id="Rc5cebb54d5854535" /><Relationship Type="http://schemas.openxmlformats.org/officeDocument/2006/relationships/image" Target="/ppt/media/image3.png" Id="R70dddab4b5254dce" /><Relationship Type="http://schemas.openxmlformats.org/officeDocument/2006/relationships/image" Target="/ppt/media/image4.png" Id="R5cf8ec7eba104aa7" /><Relationship Type="http://schemas.openxmlformats.org/officeDocument/2006/relationships/image" Target="/ppt/media/image5.png" Id="R73996b1a8f034179" /><Relationship Type="http://schemas.openxmlformats.org/officeDocument/2006/relationships/image" Target="/ppt/media/image6.png" Id="Rcc97b337db0d4685" /><Relationship Type="http://schemas.openxmlformats.org/officeDocument/2006/relationships/notesSlide" Target="/ppt/notesSlides/notesSlide3.xml" Id="R9ceb454b000347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7d7f2ea6c4e48" /><Relationship Type="http://schemas.openxmlformats.org/officeDocument/2006/relationships/image" Target="/ppt/media/image7.png" Id="R4686799ed1c64fbc" /><Relationship Type="http://schemas.openxmlformats.org/officeDocument/2006/relationships/image" Target="/ppt/media/image8.png" Id="R03fb5d00f1464130" /><Relationship Type="http://schemas.openxmlformats.org/officeDocument/2006/relationships/notesSlide" Target="/ppt/notesSlides/notesSlide4.xml" Id="Ra3bcff2de25046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e30e2097b4ab2" /><Relationship Type="http://schemas.openxmlformats.org/officeDocument/2006/relationships/image" Target="/ppt/media/image9.png" Id="R8abb2b64e50e45d3" /><Relationship Type="http://schemas.openxmlformats.org/officeDocument/2006/relationships/image" Target="/ppt/media/image10.png" Id="Rd90790a897f2480c" /><Relationship Type="http://schemas.openxmlformats.org/officeDocument/2006/relationships/notesSlide" Target="/ppt/notesSlides/notesSlide5.xml" Id="Rc3f591842a4e4f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832e9c82e42e6" /><Relationship Type="http://schemas.openxmlformats.org/officeDocument/2006/relationships/image" Target="/ppt/media/image11.png" Id="R6d884961eb5b4897" /><Relationship Type="http://schemas.openxmlformats.org/officeDocument/2006/relationships/image" Target="/ppt/media/image12.png" Id="R221b3711c1ee4c16" /><Relationship Type="http://schemas.openxmlformats.org/officeDocument/2006/relationships/notesSlide" Target="/ppt/notesSlides/notesSlide6.xml" Id="Rd513b28b77e242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b08631beb4179" /><Relationship Type="http://schemas.openxmlformats.org/officeDocument/2006/relationships/image" Target="/ppt/media/image13.png" Id="R64ebc10e25644cf1" /><Relationship Type="http://schemas.openxmlformats.org/officeDocument/2006/relationships/image" Target="/ppt/media/image14.png" Id="R2d8093fb3af44dd2" /><Relationship Type="http://schemas.openxmlformats.org/officeDocument/2006/relationships/notesSlide" Target="/ppt/notesSlides/notesSlide7.xml" Id="Rb6e81b3152624f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9844076bc4f8f" /><Relationship Type="http://schemas.openxmlformats.org/officeDocument/2006/relationships/image" Target="/ppt/media/image15.png" Id="R75f477deaf144cff" /><Relationship Type="http://schemas.openxmlformats.org/officeDocument/2006/relationships/image" Target="/ppt/media/image16.png" Id="R1943a509a7e0448c" /><Relationship Type="http://schemas.openxmlformats.org/officeDocument/2006/relationships/notesSlide" Target="/ppt/notesSlides/notesSlide8.xml" Id="Rc18e3b6c235e48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3144f0359421e" /><Relationship Type="http://schemas.openxmlformats.org/officeDocument/2006/relationships/image" Target="/ppt/media/image17.png" Id="R52684ba48cd04cd4" /><Relationship Type="http://schemas.openxmlformats.org/officeDocument/2006/relationships/image" Target="/ppt/media/image18.png" Id="R67db2d58912d43be" /><Relationship Type="http://schemas.openxmlformats.org/officeDocument/2006/relationships/notesSlide" Target="/ppt/notesSlides/notesSlide9.xml" Id="R0a6749bbad0a44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2a3f4eb9b4075" /><Relationship Type="http://schemas.openxmlformats.org/officeDocument/2006/relationships/notesSlide" Target="/ppt/notesSlides/notesSlide10.xml" Id="Rf699e08009ed4a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46D9ED5-BE86-40FB-BF16-9A2EFE0D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-1463040"/>
            <a:ext cx="5486400" cy="548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E4A"/>
          </a:solidFill>
          <a:ln xmlns:a="http://schemas.openxmlformats.org/drawingml/2006/main" w="12700">
            <a:solidFill>
              <a:srgbClr val="112E4A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42180D7-7E83-4534-B5D6-69AE7040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206240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D40019-3515-4DDA-8E21-2AA8CF49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400">
                <a:solidFill>
                  <a:srgbClr val="2EC4B6"/>
                </a:solidFill>
                <a:latin typeface="Calibri"/>
                <a:ea typeface="Calibri"/>
                <a:cs typeface="Calibri"/>
              </a:rPr>
              <a:t>BLACKOCEAN TECHNOLOGIES</a:t>
            </a:r>
            <a:endParaRPr sz="13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5FF8C36-BEC6-4DC3-AAE3-38D255EB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86868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Adherent Electrical Design Review</a:t>
            </a:r>
            <a:endParaRPr sz="4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112AE0-9EC9-40B8-8320-53EF3DFD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8036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System interfaces and mechanical integration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CE81FED-00FE-469E-92E1-31E81E15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937760"/>
            <a:ext cx="8229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for Adherent360</a:t>
            </a:r>
            <a:endParaRPr sz="14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Automated Pharmaceutical Dispensing Unit</a:t>
            </a:r>
            <a:endParaRPr sz="14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Current system architecture, 25 September 2026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1007310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D2B254E-5B5A-4CAC-8DE0-76E9C3FC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10972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System interfaces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D38C2C3-8D42-412B-A5CD-3F0A6CF3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75"/>
            </a:pPr>
            <a:r>
              <a:rPr sz="1275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One 24 V PSU, SYSCTRL power conversion, CAN row control, RS485 door I/O and wired site Ethernet.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B79DED9-C4DD-44BB-B0F6-B8F80FFF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D95B82-F195-4129-AD81-E86F719C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7830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1</a:t>
            </a:r>
            <a:endParaRPr sz="2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CFEBD87-1107-4083-98C7-A0F598B4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7830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102A3B"/>
                </a:solidFill>
              </a:defRPr>
            </a:pPr>
            <a:r>
              <a:rPr sz="1600" b="1">
                <a:solidFill>
                  <a:srgbClr val="102A3B"/>
                </a:solidFill>
                <a:latin typeface="Calibri"/>
                <a:ea typeface="Calibri"/>
                <a:cs typeface="Calibri"/>
              </a:rPr>
              <a:t>Gantry drives and sensors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92BC77F-DCDF-40E4-A393-8459E720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2C07C9B-9498-4818-A2D7-EB6D4D83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7830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2</a:t>
            </a:r>
            <a:endParaRPr sz="2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EA1DD12B-ACA2-439D-A47F-FBA5BF19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7830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102A3B"/>
                </a:solidFill>
              </a:defRPr>
            </a:pPr>
            <a:r>
              <a:rPr sz="1600" b="1">
                <a:solidFill>
                  <a:srgbClr val="102A3B"/>
                </a:solidFill>
                <a:latin typeface="Calibri"/>
                <a:ea typeface="Calibri"/>
                <a:cs typeface="Calibri"/>
              </a:rPr>
              <a:t>SYSCTRL power conversion</a:t>
            </a:r>
            <a:endParaRPr sz="16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D5545B46-D722-4136-8AA3-E0D04B32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BCC2302F-52CF-4D90-8B0E-05FE732D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6974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3</a:t>
            </a:r>
            <a:endParaRPr sz="24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A5E77484-AABD-42DC-8CD5-BAC93976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6974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102A3B"/>
                </a:solidFill>
              </a:defRPr>
            </a:pPr>
            <a:r>
              <a:rPr sz="1600" b="1">
                <a:solidFill>
                  <a:srgbClr val="102A3B"/>
                </a:solidFill>
                <a:latin typeface="Calibri"/>
                <a:ea typeface="Calibri"/>
                <a:cs typeface="Calibri"/>
              </a:rPr>
              <a:t>CAN row controllers</a:t>
            </a:r>
            <a:endParaRPr sz="16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D9118E52-9AA8-43B3-9E60-8431B91E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6060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311E3111-2295-47AB-89BE-727DC7D4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6974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4</a:t>
            </a:r>
            <a:endParaRPr sz="24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0237E5E6-13FE-4EB9-BA3A-1E704E3A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6974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102A3B"/>
                </a:solidFill>
              </a:defRPr>
            </a:pPr>
            <a:r>
              <a:rPr sz="1600" b="1">
                <a:solidFill>
                  <a:srgbClr val="102A3B"/>
                </a:solidFill>
                <a:latin typeface="Calibri"/>
                <a:ea typeface="Calibri"/>
                <a:cs typeface="Calibri"/>
              </a:rPr>
              <a:t>Ethernet panel connection</a:t>
            </a:r>
            <a:endParaRPr sz="16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56581ECD-8D20-471C-AF87-9717B7F9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204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1A6AB510-F661-4ED1-A79B-D0F217C6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6118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5</a:t>
            </a:r>
            <a:endParaRPr sz="24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3C647C9C-3B43-45D8-A398-8EF428DB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6118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102A3B"/>
                </a:solidFill>
              </a:defRPr>
            </a:pPr>
            <a:r>
              <a:rPr sz="1600" b="1">
                <a:solidFill>
                  <a:srgbClr val="102A3B"/>
                </a:solidFill>
                <a:latin typeface="Calibri"/>
                <a:ea typeface="Calibri"/>
                <a:cs typeface="Calibri"/>
              </a:rPr>
              <a:t>RS485 door controller</a:t>
            </a:r>
            <a:endParaRPr sz="1600"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2BC8FA37-7651-4559-8779-5EDF08D7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5204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7758A562-BA5A-4DC0-87CB-DD8176E7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6118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6</a:t>
            </a:r>
            <a:endParaRPr sz="240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98A467CB-7404-42A9-B5CA-B4C4FEBD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6118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102A3B"/>
                </a:solidFill>
              </a:defRPr>
            </a:pPr>
            <a:r>
              <a:rPr sz="1600" b="1">
                <a:solidFill>
                  <a:srgbClr val="102A3B"/>
                </a:solidFill>
                <a:latin typeface="Calibri"/>
                <a:ea typeface="Calibri"/>
                <a:cs typeface="Calibri"/>
              </a:rPr>
              <a:t>Status indicator</a:t>
            </a:r>
            <a:endParaRPr sz="1600"/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13D48605-C190-4B68-8FB8-88163309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0346DADC-6ABE-4A59-9E82-4CF44874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5262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7</a:t>
            </a:r>
            <a:endParaRPr sz="2400"/>
          </a:p>
        </p:txBody>
      </p:sp>
      <p:sp>
        <p:nvSpPr>
          <p:cNvPr id="38" name="Text 29">
            <a:extLst xmlns:a="http://schemas.openxmlformats.org/drawingml/2006/main">
              <a:ext uri="{FF2B5EF4-FFF2-40B4-BE49-F238E27FC236}">
                <a16:creationId xmlns:a16="http://schemas.microsoft.com/office/drawing/2014/main" id="{150FB53D-9CA0-4921-907D-6904717D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262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102A3B"/>
                </a:solidFill>
              </a:defRPr>
            </a:pPr>
            <a:r>
              <a:rPr sz="1600" b="1">
                <a:solidFill>
                  <a:srgbClr val="102A3B"/>
                </a:solidFill>
                <a:latin typeface="Calibri"/>
                <a:ea typeface="Calibri"/>
                <a:cs typeface="Calibri"/>
              </a:rPr>
              <a:t>iPad site-network access</a:t>
            </a:r>
            <a:endParaRPr sz="1600"/>
          </a:p>
        </p:txBody>
      </p:sp>
      <p:sp>
        <p:nvSpPr>
          <p:cNvPr id="39" name="Shape 30">
            <a:extLst xmlns:a="http://schemas.openxmlformats.org/drawingml/2006/main">
              <a:ext uri="{FF2B5EF4-FFF2-40B4-BE49-F238E27FC236}">
                <a16:creationId xmlns:a16="http://schemas.microsoft.com/office/drawing/2014/main" id="{82B14BCF-30F3-4EFE-8118-224EDB84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4348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42" name="Text 32">
            <a:extLst xmlns:a="http://schemas.openxmlformats.org/drawingml/2006/main">
              <a:ext uri="{FF2B5EF4-FFF2-40B4-BE49-F238E27FC236}">
                <a16:creationId xmlns:a16="http://schemas.microsoft.com/office/drawing/2014/main" id="{89A8ECFE-4991-4111-8D0C-3F0AD6B8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262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8</a:t>
            </a:r>
            <a:endParaRPr sz="2400"/>
          </a:p>
        </p:txBody>
      </p:sp>
      <p:sp>
        <p:nvSpPr>
          <p:cNvPr id="43" name="Text 33">
            <a:extLst xmlns:a="http://schemas.openxmlformats.org/drawingml/2006/main">
              <a:ext uri="{FF2B5EF4-FFF2-40B4-BE49-F238E27FC236}">
                <a16:creationId xmlns:a16="http://schemas.microsoft.com/office/drawing/2014/main" id="{CB234850-BB9B-4BF2-8DA0-282D98D0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5262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102A3B"/>
                </a:solidFill>
              </a:defRPr>
            </a:pPr>
            <a:r>
              <a:rPr sz="1600" b="1">
                <a:solidFill>
                  <a:srgbClr val="102A3B"/>
                </a:solidFill>
                <a:latin typeface="Calibri"/>
                <a:ea typeface="Calibri"/>
                <a:cs typeface="Calibri"/>
              </a:rPr>
              <a:t>Direct wiring and harnesses</a:t>
            </a:r>
            <a:endParaRPr sz="1600"/>
          </a:p>
        </p:txBody>
      </p:sp>
      <p:sp>
        <p:nvSpPr>
          <p:cNvPr id="44" name="Shape 34">
            <a:extLst xmlns:a="http://schemas.openxmlformats.org/drawingml/2006/main">
              <a:ext uri="{FF2B5EF4-FFF2-40B4-BE49-F238E27FC236}">
                <a16:creationId xmlns:a16="http://schemas.microsoft.com/office/drawing/2014/main" id="{E7AC99AC-3EE0-439A-B825-0A51252F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92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47" name="Text 36">
            <a:extLst xmlns:a="http://schemas.openxmlformats.org/drawingml/2006/main">
              <a:ext uri="{FF2B5EF4-FFF2-40B4-BE49-F238E27FC236}">
                <a16:creationId xmlns:a16="http://schemas.microsoft.com/office/drawing/2014/main" id="{5E296353-7512-42DB-87BB-B0AFA430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4406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9</a:t>
            </a:r>
            <a:endParaRPr sz="2400"/>
          </a:p>
        </p:txBody>
      </p:sp>
      <p:sp>
        <p:nvSpPr>
          <p:cNvPr id="48" name="Text 37">
            <a:extLst xmlns:a="http://schemas.openxmlformats.org/drawingml/2006/main">
              <a:ext uri="{FF2B5EF4-FFF2-40B4-BE49-F238E27FC236}">
                <a16:creationId xmlns:a16="http://schemas.microsoft.com/office/drawing/2014/main" id="{2E7EC0CB-3D05-4E2B-90C3-30C60887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54406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102A3B"/>
                </a:solidFill>
              </a:defRPr>
            </a:pPr>
            <a:r>
              <a:rPr sz="1600" b="1">
                <a:solidFill>
                  <a:srgbClr val="102A3B"/>
                </a:solidFill>
                <a:latin typeface="Calibri"/>
                <a:ea typeface="Calibri"/>
                <a:cs typeface="Calibri"/>
              </a:rPr>
              <a:t>NFC antenna and reader</a:t>
            </a:r>
            <a:endParaRPr sz="1600"/>
          </a:p>
        </p:txBody>
      </p:sp>
      <p:sp>
        <p:nvSpPr>
          <p:cNvPr id="49" name="Shape 38">
            <a:extLst xmlns:a="http://schemas.openxmlformats.org/drawingml/2006/main">
              <a:ext uri="{FF2B5EF4-FFF2-40B4-BE49-F238E27FC236}">
                <a16:creationId xmlns:a16="http://schemas.microsoft.com/office/drawing/2014/main" id="{38AB4E29-93C3-480B-BAD1-7FBD2EB9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3492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52" name="Text 40">
            <a:extLst xmlns:a="http://schemas.openxmlformats.org/drawingml/2006/main">
              <a:ext uri="{FF2B5EF4-FFF2-40B4-BE49-F238E27FC236}">
                <a16:creationId xmlns:a16="http://schemas.microsoft.com/office/drawing/2014/main" id="{F0EB91CD-F618-4468-BEC0-42AA30D2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54406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10</a:t>
            </a:r>
            <a:endParaRPr sz="2400"/>
          </a:p>
        </p:txBody>
      </p:sp>
      <p:sp>
        <p:nvSpPr>
          <p:cNvPr id="53" name="Text 41">
            <a:extLst xmlns:a="http://schemas.openxmlformats.org/drawingml/2006/main">
              <a:ext uri="{FF2B5EF4-FFF2-40B4-BE49-F238E27FC236}">
                <a16:creationId xmlns:a16="http://schemas.microsoft.com/office/drawing/2014/main" id="{BE851B35-5A5E-4883-BBF0-EBEF6E54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4406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102A3B"/>
                </a:solidFill>
              </a:defRPr>
            </a:pPr>
            <a:r>
              <a:rPr sz="1600" b="1">
                <a:solidFill>
                  <a:srgbClr val="102A3B"/>
                </a:solidFill>
                <a:latin typeface="Calibri"/>
                <a:ea typeface="Calibri"/>
                <a:cs typeface="Calibri"/>
              </a:rPr>
              <a:t>Connector selection</a:t>
            </a:r>
            <a:endParaRPr sz="1600"/>
          </a:p>
        </p:txBody>
      </p:sp>
      <p:sp>
        <p:nvSpPr>
          <p:cNvPr id="54" name="Text 42">
            <a:extLst xmlns:a="http://schemas.openxmlformats.org/drawingml/2006/main">
              <a:ext uri="{FF2B5EF4-FFF2-40B4-BE49-F238E27FC236}">
                <a16:creationId xmlns:a16="http://schemas.microsoft.com/office/drawing/2014/main" id="{67BA34BC-C010-4161-ADFA-936E7CB4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25 Sep 2026</a:t>
            </a:r>
            <a:endParaRPr sz="1000"/>
          </a:p>
        </p:txBody>
      </p:sp>
      <p:sp>
        <p:nvSpPr>
          <p:cNvPr id="55" name="Text 43">
            <a:extLst xmlns:a="http://schemas.openxmlformats.org/drawingml/2006/main">
              <a:ext uri="{FF2B5EF4-FFF2-40B4-BE49-F238E27FC236}">
                <a16:creationId xmlns:a16="http://schemas.microsoft.com/office/drawing/2014/main" id="{C1750C33-4395-40C5-8CD9-DBA7F5E3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090213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8B91585-76C7-4F18-B891-98873E81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10972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System architecture</a:t>
            </a:r>
            <a:endParaRPr sz="3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42EA075-54CE-415E-A23C-476E28A7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79A0680-B6F3-4B3B-B79B-5A42D3DA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89888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2EC4B6"/>
                </a:solidFill>
                <a:latin typeface="Cambria"/>
                <a:ea typeface="Cambria"/>
                <a:cs typeface="Cambria"/>
              </a:rPr>
              <a:t>70</a:t>
            </a:r>
            <a:endParaRPr sz="4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471C5D-0815-472C-9F62-5DDD7DD1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574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conveyor lanes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10 rows × 7</a:t>
            </a:r>
            <a:endParaRPr sz="11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D067D9A-D0E8-4093-8B52-EF671518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37160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FA711FF-CF7D-458E-908D-C87596CE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389888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2EC4B6"/>
                </a:solidFill>
                <a:latin typeface="Cambria"/>
                <a:ea typeface="Cambria"/>
                <a:cs typeface="Cambria"/>
              </a:rPr>
              <a:t>2</a:t>
            </a:r>
            <a:endParaRPr sz="4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132184-A8AE-4441-918C-DB747D06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0574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custom boards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SYSCTRL · LANECTRL ×10</a:t>
            </a:r>
            <a:endParaRPr sz="11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90988E7-B4F8-402A-ABE7-6C7890AF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7160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C37EE27-B702-47B8-9487-E24ED818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89888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2EC4B6"/>
                </a:solidFill>
                <a:latin typeface="Cambria"/>
                <a:ea typeface="Cambria"/>
                <a:cs typeface="Cambria"/>
              </a:rPr>
              <a:t>2</a:t>
            </a:r>
            <a:endParaRPr sz="4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13C1A34-09FC-4A26-BDD5-7511969D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COTS controllers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MAINCTRL ·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IOCTRL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8A8B518-E668-4B65-82A9-09000557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37160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3F42E25-BA6B-475D-B68E-307FB1AE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389888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2EC4B6"/>
                </a:solidFill>
                <a:latin typeface="Cambria"/>
                <a:ea typeface="Cambria"/>
                <a:cs typeface="Cambria"/>
              </a:rPr>
              <a:t>1</a:t>
            </a:r>
            <a:endParaRPr sz="4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2CEC1D6-3383-44EA-AE3A-9C225530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0574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24 V system PSU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12 V generated on SYSCTRL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3731E4D-17D4-43DC-AF27-020FC3B8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87c4439ca42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0B5376C-A770-42BE-ACD9-596C9633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80360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Boards</a:t>
            </a:r>
            <a:endParaRPr sz="14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2F6957E-7A55-4F65-AE7B-6ED3C597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52928"/>
            <a:ext cx="3749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125"/>
            </a:pPr>
            <a:r>
              <a:rPr sz="112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MAINCTRL ×1 and IOCTRL ×1 are COTS. SYSCTRL ×1 and LANECTRL ×10 are custom assemblies. Each lane row has seven motors, buttons and LEDs.</a:t>
            </a:r>
            <a:endParaRPr sz="11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5EAEA85-2736-481A-8998-16D1791A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075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ebb54d58545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3840480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7D4B2DF5-5E7B-4662-982B-E63F6AEE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85032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Power</a:t>
            </a:r>
            <a:endParaRPr sz="14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BA74461-0BDA-44BC-99EB-B3D5A52B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57600"/>
            <a:ext cx="3749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125"/>
            </a:pPr>
            <a:r>
              <a:rPr sz="112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PSU1 feeds SYSCTRL at 24 V. One onboard SMPS creates 12 V. Power distribution and connectors are part of SYSCTRL.</a:t>
            </a:r>
            <a:endParaRPr sz="11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EBDE644F-0484-47AB-BA7E-DAB03639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3542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6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dddab4b5254d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464515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292077F8-AF2E-42D6-BECA-3E3F4F83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9704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Comms</a:t>
            </a:r>
            <a:endParaRPr sz="1400"/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869E0954-1769-43FE-844C-281338A8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62272"/>
            <a:ext cx="3749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125"/>
            </a:pPr>
            <a:r>
              <a:rPr sz="112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CAN links MAINCTRL, SYSCTRL and the ten LANECTRL boards. RS485 links MAINCTRL and IOCTRL. Ethernet connects the site network.</a:t>
            </a:r>
            <a:endParaRPr sz="1100"/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001B1D42-51F3-43C5-A22B-A6046777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8ec7eba104a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544982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D2E896CD-E153-4BBF-AF5D-689977BD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4376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Connectors</a:t>
            </a:r>
            <a:endParaRPr sz="1400"/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977146B5-0FEB-4A2B-B73C-D1C59C39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66944"/>
            <a:ext cx="3749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125"/>
            </a:pPr>
            <a:r>
              <a:rPr sz="112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Micro-Fit candidates on custom boards; native COTS connectors retained. Sensors run directly to controller boards.</a:t>
            </a:r>
            <a:endParaRPr sz="1100"/>
          </a:p>
        </p:txBody>
      </p:sp>
      <p:pic>
        <p:nvPicPr>
          <p:cNvPr id="7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96b1a8f034179"/>
          <a:stretch xmlns:a="http://schemas.openxmlformats.org/drawingml/2006/main"/>
        </p:blipFill>
        <p:spPr>
          <a:xfrm xmlns:a="http://schemas.openxmlformats.org/drawingml/2006/main">
            <a:off x="6263640" y="2929926"/>
            <a:ext cx="5394960" cy="2433757"/>
          </a:xfrm>
          <a:prstGeom xmlns:a="http://schemas.openxmlformats.org/drawingml/2006/main" prst="rect">
            <a:avLst/>
          </a:prstGeom>
        </p:spPr>
      </p:pic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01DA3F16-F9A6-4DC6-A30D-F65ED220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440680"/>
            <a:ext cx="5394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825"/>
            </a:pPr>
            <a:r>
              <a:rPr sz="825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ADHERENT_System_Wiring_Diagram.drawio and ADHERENT_Electrical_Tables.xlsx</a:t>
            </a:r>
            <a:endParaRPr sz="900"/>
          </a:p>
        </p:txBody>
      </p:sp>
      <p:pic>
        <p:nvPicPr>
          <p:cNvPr id="7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7b337db0d46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3640" y="5742432"/>
            <a:ext cx="1188720" cy="594360"/>
          </a:xfrm>
          <a:prstGeom xmlns:a="http://schemas.openxmlformats.org/drawingml/2006/main" prst="rect">
            <a:avLst/>
          </a:prstGeom>
        </p:spPr>
      </p:pic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A8A54546-995D-43AA-AA2F-AC275DB9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760720"/>
            <a:ext cx="4114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Lane conveyor CB002-24V-573mm: 24 V, ≤ 0.2 A idle, 5.8 cm/s, ≤ 6 kg — 70 of them, one LANECTRL per row of 7.</a:t>
            </a:r>
            <a:endParaRPr sz="1000"/>
          </a:p>
        </p:txBody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8AA1D847-472F-4774-8376-338342B0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25 Sep 2026</a:t>
            </a:r>
            <a:endParaRPr sz="1000"/>
          </a:p>
        </p:txBody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623455E2-B078-4D57-9A7E-34D389D9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914700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F753E77-A8B9-4F63-8794-B710D9A9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6799ed1c64f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7AB911B-E167-4439-BAD3-59BA3CE6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1 OF 6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37B639E-0AE5-4127-9181-95241258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Gantry drives from the mechanical BOM</a:t>
            </a:r>
            <a:endParaRPr sz="32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30878E21-64A1-4EDC-A298-1DA42DCB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Single 24 V architecture; exact drive compatibility and brake interface remain open.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337EEDE-34D5-433C-8181-B02F2A26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Two Emtech 57BYG250-76 motors include supplied drivers and brakes. X uses a 3:1 gearbox.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Verify 24 V operation, driver input current, control levels and brake requirements.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Six gantry sensors connect directly to SYSCTRL. Confirm lead lengths and chain routing.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56269803-1396-4016-8BEF-72949B58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15D0D61-0B1C-4E53-8188-E30D249D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b5d00f14641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D32F7D18-55FD-48D5-A44C-F01BE0B3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ENGINEERING CHECKS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5BC0E2DA-E41E-4D6A-B942-4650CAAC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650"/>
            </a:pPr>
            <a:r>
              <a:rPr sz="165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Provide the exact motor, driver and brake datasheets.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650"/>
            </a:pPr>
            <a:r>
              <a:rPr sz="165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Can the supplied driver meet the motion load at 24 V?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650"/>
            </a:pPr>
            <a:r>
              <a:rPr sz="165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What are the STEP/DIR, ALARM and brake interfaces?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650"/>
            </a:pPr>
            <a:r>
              <a:rPr sz="165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Can the sensor leads reach SYSCTRL directly?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05791390-FE1F-49BE-AAA7-76EFB197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HOLD O01/O15: W11, W12, W15, W29, W30 and the full PSU budget.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1D211AA2-D81B-47FF-A17C-5ADE7D86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25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24DB4700-334D-45A5-A7EB-B596C6FC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4</a:t>
            </a:r>
            <a:endParaRPr sz="1000"/>
          </a:p>
        </p:txBody>
      </p:sp>
      <p:sp>
        <p:nvSpPr>
          <p:cNvPr id="19" name="Gantry SYSCTRL">
            <a:extLst xmlns:a="http://schemas.openxmlformats.org/drawingml/2006/main">
              <a:ext uri="{FF2B5EF4-FFF2-40B4-BE49-F238E27FC236}">
                <a16:creationId xmlns:a16="http://schemas.microsoft.com/office/drawing/2014/main" id="{66C4E500-D591-4610-8C7C-06AFCB1B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43150"/>
            <a:ext cx="152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SYSCTRL</a:t>
            </a:r>
          </a:p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Control + alarms</a:t>
            </a:r>
          </a:p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Brake interface TBC</a:t>
            </a:r>
          </a:p>
        </p:txBody>
      </p:sp>
      <p:sp>
        <p:nvSpPr>
          <p:cNvPr id="20" name="Gantry PSU">
            <a:extLst xmlns:a="http://schemas.openxmlformats.org/drawingml/2006/main">
              <a:ext uri="{FF2B5EF4-FFF2-40B4-BE49-F238E27FC236}">
                <a16:creationId xmlns:a16="http://schemas.microsoft.com/office/drawing/2014/main" id="{11322A0D-CF80-4B0D-85A3-D8032AE7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14500"/>
            <a:ext cx="2895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BE3A2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E3A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E3A2B"/>
                </a:solidFill>
                <a:latin typeface="Arial"/>
                <a:ea typeface="Arial"/>
                <a:cs typeface="Arial"/>
              </a:rPr>
              <a:t>PSU1 · 24 V system rail (drive use TBC)</a:t>
            </a:r>
          </a:p>
        </p:txBody>
      </p:sp>
      <p:sp>
        <p:nvSpPr>
          <p:cNvPr id="21" name="Gantry drives">
            <a:extLst xmlns:a="http://schemas.openxmlformats.org/drawingml/2006/main">
              <a:ext uri="{FF2B5EF4-FFF2-40B4-BE49-F238E27FC236}">
                <a16:creationId xmlns:a16="http://schemas.microsoft.com/office/drawing/2014/main" id="{2735EF04-92A3-4E2D-BF86-7AA38C7E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57450"/>
            <a:ext cx="28956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X / Z motors + supplied drivers</a:t>
            </a:r>
          </a:p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Brakes; X has 3:1 gearbox</a:t>
            </a:r>
          </a:p>
        </p:txBody>
      </p:sp>
      <p:sp>
        <p:nvSpPr>
          <p:cNvPr id="22" name="Gantry sensors">
            <a:extLst xmlns:a="http://schemas.openxmlformats.org/drawingml/2006/main">
              <a:ext uri="{FF2B5EF4-FFF2-40B4-BE49-F238E27FC236}">
                <a16:creationId xmlns:a16="http://schemas.microsoft.com/office/drawing/2014/main" id="{061D4286-6D48-4D97-8D6A-F1AB69F2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0425"/>
            <a:ext cx="28956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6 sensors → SYSCTRL directly (W15)</a:t>
            </a:r>
          </a:p>
        </p:txBody>
      </p:sp>
      <p:cxnSp>
        <p:nvCxnSpPr>
          <p:cNvPr id="67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143125" y="2700338"/>
            <a:ext cx="714375" cy="57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187A9B"/>
            </a:solidFill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4286250" y="2133600"/>
            <a:ext cx="19050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BE3A2B"/>
            </a:solidFill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22" idx="1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H="1" flipV="1">
            <a:off x="1381125" y="3057525"/>
            <a:ext cx="1476375" cy="557213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187A9B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8612218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69871F2-8DBB-41F4-B172-D5032152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b2b64e50e45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103B658-DFA9-488E-9C54-12C533A2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2 OF 6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4DCE4E2-32A4-4FCD-BD06-2E5B6B96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Ethernet panel connection</a:t>
            </a:r>
            <a:endParaRPr sz="32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D6399A62-182D-421C-A8EF-66386CA3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J2 selected: McMaster-Carr 1422N13, quantity 1 per machine.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D5CD6BF-6C41-4B12-A15D-D8BC7C37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J2 is the McMaster 1422N13 shielded Cat5e RJ45 female/female panel adapter.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Check its 24.13 mm panel cutout, fasteners and cable bend clearance.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W09 connects MAINCTRL to J2. W38 connects J2 to the site network.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23995FD5-6558-4BA1-873A-4047E6E8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E745904-A55F-4B47-AE5B-8C08345A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790a897f248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A99EA06D-A52A-4725-82B3-FA9FDD70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INTEGRATION CHECKS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4677382C-2176-464D-93FA-3C0E1E80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650"/>
            </a:pPr>
            <a:r>
              <a:rPr sz="165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Confirm rear-panel placement and service access.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650"/>
            </a:pPr>
            <a:r>
              <a:rPr sz="165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Agree DHCP or static addressing with site IT.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650"/>
            </a:pPr>
            <a:r>
              <a:rPr sz="165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Confirm VLAN, firewall and server access requirements.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294A3B5F-1DD3-4B83-82B4-92D126DC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J2 is selected in both BOMs. W09 is internal; W38 is the site-supplied cable.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B7580347-A790-43A2-B4EB-A79E4EE9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25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69068AC8-9B71-44B4-87C3-278FE4EE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5</a:t>
            </a:r>
            <a:endParaRPr sz="1000"/>
          </a:p>
        </p:txBody>
      </p:sp>
      <p:sp>
        <p:nvSpPr>
          <p:cNvPr id="19" name="Network MAINCTRL">
            <a:extLst xmlns:a="http://schemas.openxmlformats.org/drawingml/2006/main">
              <a:ext uri="{FF2B5EF4-FFF2-40B4-BE49-F238E27FC236}">
                <a16:creationId xmlns:a16="http://schemas.microsoft.com/office/drawing/2014/main" id="{94DA400C-D756-4196-9393-24D5D1D4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1466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MAINCTRL</a:t>
            </a:r>
          </a:p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Native Ethernet port</a:t>
            </a:r>
          </a:p>
        </p:txBody>
      </p:sp>
      <p:sp>
        <p:nvSpPr>
          <p:cNvPr id="20" name="Network J2">
            <a:extLst xmlns:a="http://schemas.openxmlformats.org/drawingml/2006/main">
              <a:ext uri="{FF2B5EF4-FFF2-40B4-BE49-F238E27FC236}">
                <a16:creationId xmlns:a16="http://schemas.microsoft.com/office/drawing/2014/main" id="{D0ACA091-2EED-4EAA-844F-F9463F39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76450"/>
            <a:ext cx="1695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J2 · McMaster</a:t>
            </a:r>
          </a:p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1422N13</a:t>
            </a:r>
          </a:p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Shielded Cat5e F/F</a:t>
            </a:r>
          </a:p>
        </p:txBody>
      </p:sp>
      <p:sp>
        <p:nvSpPr>
          <p:cNvPr id="21" name="Network site">
            <a:extLst xmlns:a="http://schemas.openxmlformats.org/drawingml/2006/main">
              <a:ext uri="{FF2B5EF4-FFF2-40B4-BE49-F238E27FC236}">
                <a16:creationId xmlns:a16="http://schemas.microsoft.com/office/drawing/2014/main" id="{4291B46A-98EA-4229-895B-5B850E19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76450"/>
            <a:ext cx="11525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Site LAN</a:t>
            </a:r>
          </a:p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IT policy TBC</a:t>
            </a:r>
          </a:p>
        </p:txBody>
      </p:sp>
      <p:cxnSp>
        <p:nvCxnSpPr>
          <p:cNvPr id="63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057400" y="24574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87A9B"/>
            </a:solidFill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4219575" y="24574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87A9B"/>
            </a:solidFill>
            <a:tailEnd type="triangle" w="sm" len="sm"/>
          </a:ln>
        </p:spPr>
      </p:cxnSp>
      <p:sp>
        <p:nvSpPr>
          <p:cNvPr id="24" name="Network options">
            <a:extLst xmlns:a="http://schemas.openxmlformats.org/drawingml/2006/main">
              <a:ext uri="{FF2B5EF4-FFF2-40B4-BE49-F238E27FC236}">
                <a16:creationId xmlns:a16="http://schemas.microsoft.com/office/drawing/2014/main" id="{602405D0-CF87-4590-93CE-EB416F96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523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52616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W09 internal patch · W38 external site cable · no internal switch</a:t>
            </a:r>
          </a:p>
        </p:txBody>
      </p:sp>
    </p:spTree>
    <p:extLst>
      <p:ext uri="{BB962C8B-B14F-4D97-AF65-F5344CB8AC3E}">
        <p14:creationId xmlns:p14="http://schemas.microsoft.com/office/powerpoint/2010/main" val="10578314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C59B57D-2471-4449-9ED8-7D521A4A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84961eb5b48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CC9267D-A8B7-474D-90B0-ECCD13FC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3 OF 6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CE8274-2B66-457F-BAC2-E3900F3B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iPad access through the site network</a:t>
            </a:r>
            <a:endParaRPr sz="32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0E4DDDA9-096A-4CB6-9F29-8DA7D6D2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The external iPad uses the Adherent app or browser on the site network.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52FC835-9B63-4E83-9B91-806511BA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MAINCTRL connects to the site network through J2.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external iPad accesses the Adherent application through that network.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Authentication and device-to-machine association remain to be defined.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111348C-C5F0-48E5-B552-BA75184E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9C22EE7-826E-49AE-9D1B-422ECFCA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3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b3711c1ee4c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41CFA016-F4C8-4DE1-B6C1-484637DF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INTEGRATION CHECKS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B3E8E78-AD51-41EB-87E5-9215C07D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650"/>
            </a:pPr>
            <a:r>
              <a:rPr sz="165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Confirm application and server endpoints.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650"/>
            </a:pPr>
            <a:r>
              <a:rPr sz="165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Define machine selection and account permissions.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650"/>
            </a:pPr>
            <a:r>
              <a:rPr sz="165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Agree authentication ownership and session handling.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A60BEB2F-B1E2-4ED7-9D5A-82EA67F8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Application behavior remains to be implemented and tested.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A322C90D-839D-42C3-B9D3-3C8D19A1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25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020F7B02-F7D2-40E6-AD4C-09917EB6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6</a:t>
            </a:r>
            <a:endParaRPr sz="1000"/>
          </a:p>
        </p:txBody>
      </p:sp>
      <p:sp>
        <p:nvSpPr>
          <p:cNvPr id="20" name="External iPad">
            <a:extLst xmlns:a="http://schemas.openxmlformats.org/drawingml/2006/main">
              <a:ext uri="{FF2B5EF4-FFF2-40B4-BE49-F238E27FC236}">
                <a16:creationId xmlns:a16="http://schemas.microsoft.com/office/drawing/2014/main" id="{CD1660F2-B48A-40E5-B84C-6690C35D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476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87A9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A3B"/>
                </a:solidFill>
                <a:latin typeface="Arial"/>
                <a:ea typeface="Arial"/>
                <a:cs typeface="Arial"/>
              </a:rPr>
              <a:t>External iPad</a:t>
            </a:r>
          </a:p>
          <a:p xmlns:a="http://schemas.openxmlformats.org/drawingml/2006/main">
            <a:pPr>
              <a:defRPr sz="1275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A3B"/>
                </a:solidFill>
                <a:latin typeface="Arial"/>
                <a:ea typeface="Arial"/>
                <a:cs typeface="Arial"/>
              </a:rPr>
              <a:t>Adherent app / browser</a:t>
            </a:r>
          </a:p>
        </p:txBody>
      </p:sp>
      <p:sp>
        <p:nvSpPr>
          <p:cNvPr id="21" name="Site network">
            <a:extLst xmlns:a="http://schemas.openxmlformats.org/drawingml/2006/main">
              <a:ext uri="{FF2B5EF4-FFF2-40B4-BE49-F238E27FC236}">
                <a16:creationId xmlns:a16="http://schemas.microsoft.com/office/drawing/2014/main" id="{45F6E0E3-B216-4123-8BA2-A21596CC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95500"/>
            <a:ext cx="1476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87A9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A3B"/>
                </a:solidFill>
                <a:latin typeface="Arial"/>
                <a:ea typeface="Arial"/>
                <a:cs typeface="Arial"/>
              </a:rPr>
              <a:t>Site network</a:t>
            </a:r>
          </a:p>
        </p:txBody>
      </p:sp>
      <p:sp>
        <p:nvSpPr>
          <p:cNvPr id="22" name="Machine Ethernet">
            <a:extLst xmlns:a="http://schemas.openxmlformats.org/drawingml/2006/main">
              <a:ext uri="{FF2B5EF4-FFF2-40B4-BE49-F238E27FC236}">
                <a16:creationId xmlns:a16="http://schemas.microsoft.com/office/drawing/2014/main" id="{880A69F1-3595-4074-8DE7-E3CDC1B3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95500"/>
            <a:ext cx="1476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87A9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A3B"/>
                </a:solidFill>
                <a:latin typeface="Arial"/>
                <a:ea typeface="Arial"/>
                <a:cs typeface="Arial"/>
              </a:rPr>
              <a:t>J2 / MAINCTRL</a:t>
            </a:r>
          </a:p>
          <a:p xmlns:a="http://schemas.openxmlformats.org/drawingml/2006/main">
            <a:pPr>
              <a:defRPr sz="1275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A3B"/>
                </a:solidFill>
                <a:latin typeface="Arial"/>
                <a:ea typeface="Arial"/>
                <a:cs typeface="Arial"/>
              </a:rPr>
              <a:t>Wired Ethernet</a:t>
            </a:r>
          </a:p>
        </p:txBody>
      </p:sp>
      <p:cxnSp>
        <p:nvCxnSpPr>
          <p:cNvPr id="4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095500" y="2524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87A9B"/>
            </a:solidFill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990975" y="25241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87A9B"/>
            </a:solidFill>
            <a:tailEnd type="triangle" w="sm" len="sm"/>
          </a:ln>
        </p:spPr>
      </p:cxnSp>
      <p:sp>
        <p:nvSpPr>
          <p:cNvPr id="25" name="Server service">
            <a:extLst xmlns:a="http://schemas.openxmlformats.org/drawingml/2006/main">
              <a:ext uri="{FF2B5EF4-FFF2-40B4-BE49-F238E27FC236}">
                <a16:creationId xmlns:a16="http://schemas.microsoft.com/office/drawing/2014/main" id="{5073E50E-6CAD-462F-BFD6-4C9C1C7C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09925"/>
            <a:ext cx="3371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87A9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A3B"/>
                </a:solidFill>
                <a:latin typeface="Arial"/>
                <a:ea typeface="Arial"/>
                <a:cs typeface="Arial"/>
              </a:rPr>
              <a:t>Adherent application / server endpoints TBC</a:t>
            </a:r>
          </a:p>
        </p:txBody>
      </p:sp>
    </p:spTree>
    <p:extLst>
      <p:ext uri="{BB962C8B-B14F-4D97-AF65-F5344CB8AC3E}">
        <p14:creationId xmlns:p14="http://schemas.microsoft.com/office/powerpoint/2010/main" val="19315250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E4AE89C-B451-4CF0-86B4-EC598784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bc10e25644c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F9DE587-7D35-4BDF-966A-D49EE8AD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4 OF 6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BAE314A-7A22-408D-AE10-CC2A6EDE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Wire harness drawings</a:t>
            </a:r>
            <a:endParaRPr sz="32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FE8ED109-C0A0-4AC2-9D40-CA5960DD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Sensors connect directly to SYSCTRL and IOCTRL; no junction boxes.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2E5F610-F700-496C-B00C-916AABD2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W15 carries six direct gantry sensor runs to SYSCTRL. W23 carries five direct door sensor runs to IOCTRL.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W04, W06 and W07 are internal SYSCTRL connections.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Finalize external harness routes, conductor sizes, mating connectors and service loops.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FB17D073-527A-4F96-8CB4-EEBA8353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0FEF867-F4E0-44CB-A41C-483C9900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6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093fb3af44d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647D1B44-BD5E-45C3-8E5B-61E50C71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ENGINEERING CHECKS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7AAAAAF9-51E3-4A15-B44D-9EE04019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575"/>
            </a:pPr>
            <a:r>
              <a:rPr sz="15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Measure direct sensor routes and check the supplied 1 m leads.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575"/>
            </a:pPr>
            <a:r>
              <a:rPr sz="15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Confirm chain fill, bend radius and service loops.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575"/>
            </a:pPr>
            <a:r>
              <a:rPr sz="15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Verify LANECTRL placement against the bracket DWG.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575"/>
            </a:pPr>
            <a:r>
              <a:rPr sz="15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Release one pin-to-pin drawing per required harness.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3FB39403-B96F-4374-A20C-1E787D75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HOLD O06/O12/O15: no blanket 22 AWG or parallel-pin current rating.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1A64AD50-A816-49D5-8C5F-BF0D95B1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25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F96FD61F-D20D-4FB0-9992-F1611F28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7</a:t>
            </a:r>
            <a:endParaRPr sz="1000"/>
          </a:p>
        </p:txBody>
      </p:sp>
      <p:sp>
        <p:nvSpPr>
          <p:cNvPr id="19" name="Direct SYSCTRL">
            <a:extLst xmlns:a="http://schemas.openxmlformats.org/drawingml/2006/main">
              <a:ext uri="{FF2B5EF4-FFF2-40B4-BE49-F238E27FC236}">
                <a16:creationId xmlns:a16="http://schemas.microsoft.com/office/drawing/2014/main" id="{48F70BBE-1A14-4CE8-8B6F-661C92C0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14573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SYSCTRL</a:t>
            </a:r>
          </a:p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J21–J26</a:t>
            </a:r>
          </a:p>
        </p:txBody>
      </p:sp>
      <p:sp>
        <p:nvSpPr>
          <p:cNvPr id="20" name="Direct gantry sensors">
            <a:extLst xmlns:a="http://schemas.openxmlformats.org/drawingml/2006/main">
              <a:ext uri="{FF2B5EF4-FFF2-40B4-BE49-F238E27FC236}">
                <a16:creationId xmlns:a16="http://schemas.microsoft.com/office/drawing/2014/main" id="{DCBD3723-B468-46E7-80A1-94832E6E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62125"/>
            <a:ext cx="30003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6 gantry sensors</a:t>
            </a:r>
          </a:p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W15 direct; route lengths TBC</a:t>
            </a:r>
          </a:p>
        </p:txBody>
      </p:sp>
      <p:sp>
        <p:nvSpPr>
          <p:cNvPr id="21" name="Direct IOCTRL">
            <a:extLst xmlns:a="http://schemas.openxmlformats.org/drawingml/2006/main">
              <a:ext uri="{FF2B5EF4-FFF2-40B4-BE49-F238E27FC236}">
                <a16:creationId xmlns:a16="http://schemas.microsoft.com/office/drawing/2014/main" id="{3781E6AA-1871-4D58-8CA4-BF4B2B1C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05075"/>
            <a:ext cx="14573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IOCTRL</a:t>
            </a:r>
          </a:p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DI1–DI5</a:t>
            </a:r>
          </a:p>
        </p:txBody>
      </p:sp>
      <p:sp>
        <p:nvSpPr>
          <p:cNvPr id="22" name="Direct door sensors">
            <a:extLst xmlns:a="http://schemas.openxmlformats.org/drawingml/2006/main">
              <a:ext uri="{FF2B5EF4-FFF2-40B4-BE49-F238E27FC236}">
                <a16:creationId xmlns:a16="http://schemas.microsoft.com/office/drawing/2014/main" id="{7E5D0929-7290-441D-B11D-871D1076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05075"/>
            <a:ext cx="30003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5 door sensors</a:t>
            </a:r>
          </a:p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W23 direct; route lengths TBC</a:t>
            </a:r>
          </a:p>
        </p:txBody>
      </p:sp>
      <p:sp>
        <p:nvSpPr>
          <p:cNvPr id="23" name="Direct LANECTRL">
            <a:extLst xmlns:a="http://schemas.openxmlformats.org/drawingml/2006/main">
              <a:ext uri="{FF2B5EF4-FFF2-40B4-BE49-F238E27FC236}">
                <a16:creationId xmlns:a16="http://schemas.microsoft.com/office/drawing/2014/main" id="{F307ADBD-B9B9-4DF0-8FBE-E58EEC6F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14573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LANECTRL ×10</a:t>
            </a:r>
          </a:p>
        </p:txBody>
      </p:sp>
      <p:sp>
        <p:nvSpPr>
          <p:cNvPr id="24" name="Direct conveyors">
            <a:extLst xmlns:a="http://schemas.openxmlformats.org/drawingml/2006/main">
              <a:ext uri="{FF2B5EF4-FFF2-40B4-BE49-F238E27FC236}">
                <a16:creationId xmlns:a16="http://schemas.microsoft.com/office/drawing/2014/main" id="{AE0F81D5-B2B4-47BE-8A82-8DDA96F6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48025"/>
            <a:ext cx="30003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70 conveyor leads W27</a:t>
            </a:r>
          </a:p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Bracket / feedback interface TBC</a:t>
            </a:r>
          </a:p>
        </p:txBody>
      </p:sp>
      <p:cxnSp>
        <p:nvCxnSpPr>
          <p:cNvPr id="73" name=""/>
          <p:cNvCxnSpPr>
            <a:stCxn xmlns:a="http://schemas.openxmlformats.org/drawingml/2006/main" id="20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2047875" y="20145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87A9B"/>
            </a:solidFill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2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2047875" y="275748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87A9B"/>
            </a:solidFill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2047875" y="35004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87A9B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792838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3C10E29-E055-4866-86FC-AAD3A518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477deaf144c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FE0DCEF-A38B-4FBB-A15A-C0C621E8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5 OF 6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00C56DF-26D7-4C7F-8072-BF2FFAC0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NFC antenna and reader</a:t>
            </a:r>
            <a:endParaRPr sz="32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3DA30FC-024D-4B7B-B7A6-A74F6402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Selected antenna: Molex 1462362151, one per machine.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32E0E15-599E-419B-9B9B-401F22D1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ANT-NFC is Molex 1462362151: 13.56 MHz, 15 × 15 × 0.27 mm, adhesive mounting and 102 mm cable.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NFC reader/front-end remains to be selected.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Host interface, supply voltage and RF matching remain unassigned.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63C4549F-07DB-4B32-BD7E-52EDFC6E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908347C-6660-46C4-A3B9-D8F4888B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3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3a509a7e044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D6C7ED2A-FC65-453F-81DB-605042E7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INTEGRATION CHECKS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2D9799B0-4297-412B-A037-7535715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650"/>
            </a:pPr>
            <a:r>
              <a:rPr sz="165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Confirm the reading position and surrounding metal.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650"/>
            </a:pPr>
            <a:r>
              <a:rPr sz="165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Select a compatible reader/front-end.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650"/>
            </a:pPr>
            <a:r>
              <a:rPr sz="165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Define RF termination, host interface and power.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650"/>
            </a:pPr>
            <a:r>
              <a:rPr sz="165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Validate reading range in the final enclosure.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60D803D5-A028-4E55-825D-0FE02847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Antenna selected. Reader integration and mounting remain open.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049CF628-6E27-4A21-B3F4-D56303A0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25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B016A084-02E8-4656-B860-5648929E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8</a:t>
            </a:r>
            <a:endParaRPr sz="1000"/>
          </a:p>
        </p:txBody>
      </p:sp>
      <p:sp>
        <p:nvSpPr>
          <p:cNvPr id="20" name="Selected NFC antenna">
            <a:extLst xmlns:a="http://schemas.openxmlformats.org/drawingml/2006/main">
              <a:ext uri="{FF2B5EF4-FFF2-40B4-BE49-F238E27FC236}">
                <a16:creationId xmlns:a16="http://schemas.microsoft.com/office/drawing/2014/main" id="{6D46BB6F-2E8C-4CC1-8BD9-5419C0D9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2333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87A9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A3B"/>
                </a:solidFill>
                <a:latin typeface="Arial"/>
                <a:ea typeface="Arial"/>
                <a:cs typeface="Arial"/>
              </a:rPr>
              <a:t>ANT-NFC</a:t>
            </a:r>
          </a:p>
          <a:p xmlns:a="http://schemas.openxmlformats.org/drawingml/2006/main">
            <a:pPr>
              <a:defRPr sz="1275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A3B"/>
                </a:solidFill>
                <a:latin typeface="Arial"/>
                <a:ea typeface="Arial"/>
                <a:cs typeface="Arial"/>
              </a:rPr>
              <a:t>Molex 1462362151</a:t>
            </a:r>
          </a:p>
          <a:p xmlns:a="http://schemas.openxmlformats.org/drawingml/2006/main">
            <a:pPr>
              <a:defRPr sz="1275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A3B"/>
                </a:solidFill>
                <a:latin typeface="Arial"/>
                <a:ea typeface="Arial"/>
                <a:cs typeface="Arial"/>
              </a:rPr>
              <a:t>15 × 15 mm, 102 mm cable</a:t>
            </a:r>
          </a:p>
        </p:txBody>
      </p:sp>
      <p:sp>
        <p:nvSpPr>
          <p:cNvPr id="21" name="NFC reader pending">
            <a:extLst xmlns:a="http://schemas.openxmlformats.org/drawingml/2006/main">
              <a:ext uri="{FF2B5EF4-FFF2-40B4-BE49-F238E27FC236}">
                <a16:creationId xmlns:a16="http://schemas.microsoft.com/office/drawing/2014/main" id="{3ADCFFA4-77E8-4C35-9D78-B837798C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2333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87A9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A3B"/>
                </a:solidFill>
                <a:latin typeface="Arial"/>
                <a:ea typeface="Arial"/>
                <a:cs typeface="Arial"/>
              </a:rPr>
              <a:t>NFC reader / front end</a:t>
            </a:r>
          </a:p>
          <a:p xmlns:a="http://schemas.openxmlformats.org/drawingml/2006/main">
            <a:pPr>
              <a:defRPr sz="1275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A3B"/>
                </a:solidFill>
                <a:latin typeface="Arial"/>
                <a:ea typeface="Arial"/>
                <a:cs typeface="Arial"/>
              </a:rPr>
              <a:t>Selection pending</a:t>
            </a:r>
          </a:p>
          <a:p xmlns:a="http://schemas.openxmlformats.org/drawingml/2006/main">
            <a:pPr>
              <a:defRPr sz="1275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A3B"/>
                </a:solidFill>
                <a:latin typeface="Arial"/>
                <a:ea typeface="Arial"/>
                <a:cs typeface="Arial"/>
              </a:rPr>
              <a:t>RF matching / supply TBC</a:t>
            </a:r>
          </a:p>
        </p:txBody>
      </p:sp>
      <p:cxnSp>
        <p:nvCxnSpPr>
          <p:cNvPr id="40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952750" y="2595563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87A9B"/>
            </a:solidFill>
            <a:tailEnd type="triangle" w="sm" len="sm"/>
          </a:ln>
        </p:spPr>
      </p:cxnSp>
      <p:sp>
        <p:nvSpPr>
          <p:cNvPr id="23" name="Host interface pending">
            <a:extLst xmlns:a="http://schemas.openxmlformats.org/drawingml/2006/main">
              <a:ext uri="{FF2B5EF4-FFF2-40B4-BE49-F238E27FC236}">
                <a16:creationId xmlns:a16="http://schemas.microsoft.com/office/drawing/2014/main" id="{2785D4C5-9FDF-426C-A56B-7C4A6187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71850"/>
            <a:ext cx="519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87A9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A3B"/>
                </a:solidFill>
                <a:latin typeface="Arial"/>
                <a:ea typeface="Arial"/>
                <a:cs typeface="Arial"/>
              </a:rPr>
              <a:t>Host interface and board allocation TBC</a:t>
            </a:r>
          </a:p>
        </p:txBody>
      </p:sp>
    </p:spTree>
    <p:extLst>
      <p:ext uri="{BB962C8B-B14F-4D97-AF65-F5344CB8AC3E}">
        <p14:creationId xmlns:p14="http://schemas.microsoft.com/office/powerpoint/2010/main" val="18760531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45BF138-EC78-43FD-B73D-39DA63B6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84ba48cd04c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5C94CBB-B891-41A8-AB9A-940A51F2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6 OF 6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18370B5-92FD-4B0D-B491-FAFBF6BB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Connector standard</a:t>
            </a:r>
            <a:endParaRPr sz="32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5AF5493-6A9A-48BA-86B1-C50F4883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01568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Connector families are candidates until mating and current checks are complete.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55E3CFB-B280-40DD-813E-926B9728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21608"/>
            <a:ext cx="5394960" cy="2267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Custom PCB connector selections must match their actual schematics and mating harnesses.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MYIR and Waveshare boards retain their native connectors. J2 is McMaster 1422N13.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  <a:defRPr sz="1275"/>
            </a:pPr>
            <a:r>
              <a:rPr sz="12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SYSCTRL contains its power routing and connectors. Verify ratings, pinouts and mounting access.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EC2135BC-B656-4A5F-B66D-0BBFC1F3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BF1FF14-9A05-49E6-9386-6E2926A3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3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db2d58912d43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D4E42240-02F7-4044-A4B2-7325A34A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ENGINEERING CHECKS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C332D386-3F7C-47F8-A6AE-EE0FE3F9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575"/>
            </a:pPr>
            <a:r>
              <a:rPr sz="15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Approve exact mating housings, contacts and keying.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575"/>
            </a:pPr>
            <a:r>
              <a:rPr sz="15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Validate gauge, temperature rise and voltage drop.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575"/>
            </a:pPr>
            <a:r>
              <a:rPr sz="15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Confirm service access and panel cutouts.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575"/>
            </a:pPr>
            <a:r>
              <a:rPr sz="1575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Do not treat a generic per-pin rating as harness approval.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4F2DDB6D-432B-4E98-B528-09A28DAD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HOLD O03/O05/O06: conveyor feedback, H-bridge/TVS coordination and protection.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4DF2CFF5-EDB2-42B9-A73F-FF17B844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25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9DEECCF6-C91A-4A3C-B7C5-89B652B6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9</a:t>
            </a:r>
            <a:endParaRPr sz="1000"/>
          </a:p>
        </p:txBody>
      </p:sp>
      <p:sp>
        <p:nvSpPr>
          <p:cNvPr id="19" name="Custom connectors">
            <a:extLst xmlns:a="http://schemas.openxmlformats.org/drawingml/2006/main">
              <a:ext uri="{FF2B5EF4-FFF2-40B4-BE49-F238E27FC236}">
                <a16:creationId xmlns:a16="http://schemas.microsoft.com/office/drawing/2014/main" id="{D6EF598D-D6F7-4768-9753-2A7557DF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619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CUSTOM BOARDS</a:t>
            </a:r>
          </a:p>
          <a:p xmlns:a="http://schemas.openxmlformats.org/drawingml/2006/main">
            <a:pPr>
              <a:defRPr sz="1125"/>
            </a:pPr>
            <a:r>
              <a:rPr sz="1125"/>
              <a:t>Match PCB connector MPNs</a:t>
            </a:r>
          </a:p>
          <a:p xmlns:a="http://schemas.openxmlformats.org/drawingml/2006/main">
            <a:pPr>
              <a:buNone/>
              <a:defRPr sz="1125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Verify mates and current limits</a:t>
            </a:r>
          </a:p>
        </p:txBody>
      </p:sp>
      <p:sp>
        <p:nvSpPr>
          <p:cNvPr id="20" name="COTS connectors">
            <a:extLst xmlns:a="http://schemas.openxmlformats.org/drawingml/2006/main">
              <a:ext uri="{FF2B5EF4-FFF2-40B4-BE49-F238E27FC236}">
                <a16:creationId xmlns:a16="http://schemas.microsoft.com/office/drawing/2014/main" id="{ACB779E9-5CAB-465E-8D41-63046F2C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09750"/>
            <a:ext cx="1619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COTS BOARDS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Native MYIR / Waveshare connectors</a:t>
            </a:r>
          </a:p>
          <a:p xmlns:a="http://schemas.openxmlformats.org/drawingml/2006/main">
            <a:pPr>
              <a:buNone/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Verify pinouts</a:t>
            </a:r>
          </a:p>
        </p:txBody>
      </p:sp>
      <p:sp>
        <p:nvSpPr>
          <p:cNvPr id="21" name="Panel connectors">
            <a:extLst xmlns:a="http://schemas.openxmlformats.org/drawingml/2006/main">
              <a:ext uri="{FF2B5EF4-FFF2-40B4-BE49-F238E27FC236}">
                <a16:creationId xmlns:a16="http://schemas.microsoft.com/office/drawing/2014/main" id="{8A77E8C6-4AA9-44B6-8B1F-BE280524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1619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102A3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PANEL / POWER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J2: 1422N13</a:t>
            </a:r>
          </a:p>
          <a:p xmlns:a="http://schemas.openxmlformats.org/drawingml/2006/main">
            <a:pPr>
              <a:buNone/>
              <a:defRPr sz="1200" b="0">
                <a:solidFill>
                  <a:srgbClr val="102A3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B"/>
                </a:solidFill>
                <a:latin typeface="Arial"/>
                <a:ea typeface="Arial"/>
                <a:cs typeface="Arial"/>
              </a:rPr>
              <a:t>Mains / protection selection pending</a:t>
            </a:r>
          </a:p>
        </p:txBody>
      </p:sp>
    </p:spTree>
    <p:extLst>
      <p:ext uri="{BB962C8B-B14F-4D97-AF65-F5344CB8AC3E}">
        <p14:creationId xmlns:p14="http://schemas.microsoft.com/office/powerpoint/2010/main" val="13504099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BFFEC7E-B310-458C-B379-B95201A7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-201168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E4A"/>
          </a:solidFill>
          <a:ln xmlns:a="http://schemas.openxmlformats.org/drawingml/2006/main" w="12700">
            <a:solidFill>
              <a:srgbClr val="112E4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9BD7D62-3049-4D3F-BAA6-A809F8C6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Remaining integration work</a:t>
            </a:r>
            <a:endParaRPr sz="3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34683BA-E3B2-484F-B02B-0983CB1A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417320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Gantry drives</a:t>
            </a:r>
            <a:endParaRPr sz="15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1EB75AC-7B52-4B16-9987-8B6B82CB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746504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0">
                <a:solidFill>
                  <a:srgbClr val="E2EDF3"/>
                </a:solidFill>
              </a:defRPr>
            </a:pPr>
            <a:r>
              <a:rPr sz="1150" b="0">
                <a:solidFill>
                  <a:srgbClr val="E2EDF3"/>
                </a:solidFill>
                <a:latin typeface="Calibri"/>
                <a:ea typeface="Calibri"/>
                <a:cs typeface="Calibri"/>
              </a:rPr>
              <a:t>24 V compatibility and brake/control levels</a:t>
            </a:r>
            <a:endParaRPr sz="115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6E8D1EBD-658B-412C-B0F3-ECF40F85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417320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SYSCTRL power</a:t>
            </a:r>
            <a:endParaRPr sz="15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F41A71F-802A-48F3-8F90-619A1D48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746504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0">
                <a:solidFill>
                  <a:srgbClr val="E2EDF3"/>
                </a:solidFill>
              </a:defRPr>
            </a:pPr>
            <a:r>
              <a:rPr sz="1150" b="0">
                <a:solidFill>
                  <a:srgbClr val="E2EDF3"/>
                </a:solidFill>
                <a:latin typeface="Calibri"/>
                <a:ea typeface="Calibri"/>
                <a:cs typeface="Calibri"/>
              </a:rPr>
              <a:t>Onboard SMPS sizing and branch protection</a:t>
            </a:r>
            <a:endParaRPr sz="115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96E2C558-C3E5-41AF-ACF7-FC239DAE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313432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CAN network</a:t>
            </a:r>
            <a:endParaRPr sz="15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D358CEB1-94EF-4303-AEB6-08C47868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642616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0">
                <a:solidFill>
                  <a:srgbClr val="E2EDF3"/>
                </a:solidFill>
              </a:defRPr>
            </a:pPr>
            <a:r>
              <a:rPr sz="1150" b="0">
                <a:solidFill>
                  <a:srgbClr val="E2EDF3"/>
                </a:solidFill>
                <a:latin typeface="Calibri"/>
                <a:ea typeface="Calibri"/>
                <a:cs typeface="Calibri"/>
              </a:rPr>
              <a:t>Termination and backbone wiring validation</a:t>
            </a:r>
            <a:endParaRPr sz="1150"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047A8771-1A41-47E9-8C31-D584E3D7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313432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Ethernet</a:t>
            </a:r>
            <a:endParaRPr sz="15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70D55BF1-116A-4CE6-BDAA-57B69B88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642616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0">
                <a:solidFill>
                  <a:srgbClr val="E2EDF3"/>
                </a:solidFill>
              </a:defRPr>
            </a:pPr>
            <a:r>
              <a:rPr sz="1150" b="0">
                <a:solidFill>
                  <a:srgbClr val="E2EDF3"/>
                </a:solidFill>
                <a:latin typeface="Calibri"/>
                <a:ea typeface="Calibri"/>
                <a:cs typeface="Calibri"/>
              </a:rPr>
              <a:t>J2: 1422N13. Site IT policy pending</a:t>
            </a:r>
            <a:endParaRPr sz="1150"/>
          </a:p>
        </p:txBody>
      </p:sp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A704875F-2659-40D8-8762-FF19545E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209544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RS485 door I/O</a:t>
            </a:r>
            <a:endParaRPr sz="1500"/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C2EF0250-182C-494B-8F76-14EB719A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538728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0">
                <a:solidFill>
                  <a:srgbClr val="E2EDF3"/>
                </a:solidFill>
              </a:defRPr>
            </a:pPr>
            <a:r>
              <a:rPr sz="1150" b="0">
                <a:solidFill>
                  <a:srgbClr val="E2EDF3"/>
                </a:solidFill>
                <a:latin typeface="Calibri"/>
                <a:ea typeface="Calibri"/>
                <a:cs typeface="Calibri"/>
              </a:rPr>
              <a:t>IOCTRL protocol and native pinouts</a:t>
            </a:r>
            <a:endParaRPr sz="1150"/>
          </a:p>
        </p:txBody>
      </p:sp>
      <p:sp>
        <p:nvSpPr>
          <p:cNvPr id="26" name="Text 18">
            <a:extLst xmlns:a="http://schemas.openxmlformats.org/drawingml/2006/main">
              <a:ext uri="{FF2B5EF4-FFF2-40B4-BE49-F238E27FC236}">
                <a16:creationId xmlns:a16="http://schemas.microsoft.com/office/drawing/2014/main" id="{F05FF227-5B74-469B-B06D-6269BAEF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209544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Status indicator</a:t>
            </a:r>
            <a:endParaRPr sz="1500"/>
          </a:p>
        </p:txBody>
      </p:sp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259E34C1-0F94-44F5-9345-97459483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538728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0">
                <a:solidFill>
                  <a:srgbClr val="E2EDF3"/>
                </a:solidFill>
              </a:defRPr>
            </a:pPr>
            <a:r>
              <a:rPr sz="1150" b="0">
                <a:solidFill>
                  <a:srgbClr val="E2EDF3"/>
                </a:solidFill>
                <a:latin typeface="Calibri"/>
                <a:ea typeface="Calibri"/>
                <a:cs typeface="Calibri"/>
              </a:rPr>
              <a:t>Select STACK model and confirm W36 route</a:t>
            </a:r>
            <a:endParaRPr sz="1150"/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634DD78F-192F-43DC-BF38-7E79F8DF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05656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iPad access</a:t>
            </a:r>
            <a:endParaRPr sz="1500"/>
          </a:p>
        </p:txBody>
      </p:sp>
      <p:sp>
        <p:nvSpPr>
          <p:cNvPr id="31" name="Text 22">
            <a:extLst xmlns:a="http://schemas.openxmlformats.org/drawingml/2006/main">
              <a:ext uri="{FF2B5EF4-FFF2-40B4-BE49-F238E27FC236}">
                <a16:creationId xmlns:a16="http://schemas.microsoft.com/office/drawing/2014/main" id="{0894F2E3-722A-4A27-B69D-AEFC421C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434840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0">
                <a:solidFill>
                  <a:srgbClr val="E2EDF3"/>
                </a:solidFill>
              </a:defRPr>
            </a:pPr>
            <a:r>
              <a:rPr sz="1150" b="0">
                <a:solidFill>
                  <a:srgbClr val="E2EDF3"/>
                </a:solidFill>
                <a:latin typeface="Calibri"/>
                <a:ea typeface="Calibri"/>
                <a:cs typeface="Calibri"/>
              </a:rPr>
              <a:t>Site network and application authentication</a:t>
            </a:r>
            <a:endParaRPr sz="1150"/>
          </a:p>
        </p:txBody>
      </p:sp>
      <p:sp>
        <p:nvSpPr>
          <p:cNvPr id="34" name="Text 24">
            <a:extLst xmlns:a="http://schemas.openxmlformats.org/drawingml/2006/main">
              <a:ext uri="{FF2B5EF4-FFF2-40B4-BE49-F238E27FC236}">
                <a16:creationId xmlns:a16="http://schemas.microsoft.com/office/drawing/2014/main" id="{91E72941-C763-4C69-865D-EDADA624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105656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Harnesses</a:t>
            </a:r>
            <a:endParaRPr sz="1500"/>
          </a:p>
        </p:txBody>
      </p:sp>
      <p:sp>
        <p:nvSpPr>
          <p:cNvPr id="35" name="Text 25">
            <a:extLst xmlns:a="http://schemas.openxmlformats.org/drawingml/2006/main">
              <a:ext uri="{FF2B5EF4-FFF2-40B4-BE49-F238E27FC236}">
                <a16:creationId xmlns:a16="http://schemas.microsoft.com/office/drawing/2014/main" id="{0F639A2F-90CA-4A7A-8356-973F44D0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434840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0">
                <a:solidFill>
                  <a:srgbClr val="E2EDF3"/>
                </a:solidFill>
              </a:defRPr>
            </a:pPr>
            <a:r>
              <a:rPr sz="1150" b="0">
                <a:solidFill>
                  <a:srgbClr val="E2EDF3"/>
                </a:solidFill>
                <a:latin typeface="Calibri"/>
                <a:ea typeface="Calibri"/>
                <a:cs typeface="Calibri"/>
              </a:rPr>
              <a:t>Direct sensor runs, route lengths and fit</a:t>
            </a:r>
            <a:endParaRPr sz="1150"/>
          </a:p>
        </p:txBody>
      </p:sp>
      <p:sp>
        <p:nvSpPr>
          <p:cNvPr id="38" name="Text 27">
            <a:extLst xmlns:a="http://schemas.openxmlformats.org/drawingml/2006/main">
              <a:ext uri="{FF2B5EF4-FFF2-40B4-BE49-F238E27FC236}">
                <a16:creationId xmlns:a16="http://schemas.microsoft.com/office/drawing/2014/main" id="{34383764-0DFB-4438-97E2-D63996FF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001768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NFC</a:t>
            </a:r>
            <a:endParaRPr sz="1500"/>
          </a:p>
        </p:txBody>
      </p:sp>
      <p:sp>
        <p:nvSpPr>
          <p:cNvPr id="39" name="Text 28">
            <a:extLst xmlns:a="http://schemas.openxmlformats.org/drawingml/2006/main">
              <a:ext uri="{FF2B5EF4-FFF2-40B4-BE49-F238E27FC236}">
                <a16:creationId xmlns:a16="http://schemas.microsoft.com/office/drawing/2014/main" id="{0CB34843-E6DB-4D5E-B65C-08E84ACF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330952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0">
                <a:solidFill>
                  <a:srgbClr val="E2EDF3"/>
                </a:solidFill>
              </a:defRPr>
            </a:pPr>
            <a:r>
              <a:rPr sz="1150" b="0">
                <a:solidFill>
                  <a:srgbClr val="E2EDF3"/>
                </a:solidFill>
                <a:latin typeface="Calibri"/>
                <a:ea typeface="Calibri"/>
                <a:cs typeface="Calibri"/>
              </a:rPr>
              <a:t>1462362151 selected. Reader interface TBC</a:t>
            </a:r>
            <a:endParaRPr sz="1150"/>
          </a:p>
        </p:txBody>
      </p:sp>
      <p:sp>
        <p:nvSpPr>
          <p:cNvPr id="42" name="Text 30">
            <a:extLst xmlns:a="http://schemas.openxmlformats.org/drawingml/2006/main">
              <a:ext uri="{FF2B5EF4-FFF2-40B4-BE49-F238E27FC236}">
                <a16:creationId xmlns:a16="http://schemas.microsoft.com/office/drawing/2014/main" id="{00EE851A-48D0-47D0-BD1C-79DB09BF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001768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Connectors</a:t>
            </a:r>
            <a:endParaRPr sz="1500"/>
          </a:p>
        </p:txBody>
      </p:sp>
      <p:sp>
        <p:nvSpPr>
          <p:cNvPr id="43" name="Text 31">
            <a:extLst xmlns:a="http://schemas.openxmlformats.org/drawingml/2006/main">
              <a:ext uri="{FF2B5EF4-FFF2-40B4-BE49-F238E27FC236}">
                <a16:creationId xmlns:a16="http://schemas.microsoft.com/office/drawing/2014/main" id="{441090A9-3E25-46CB-82E3-744121C6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330952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0">
                <a:solidFill>
                  <a:srgbClr val="E2EDF3"/>
                </a:solidFill>
              </a:defRPr>
            </a:pPr>
            <a:r>
              <a:rPr sz="1150" b="0">
                <a:solidFill>
                  <a:srgbClr val="E2EDF3"/>
                </a:solidFill>
                <a:latin typeface="Calibri"/>
                <a:ea typeface="Calibri"/>
                <a:cs typeface="Calibri"/>
              </a:rPr>
              <a:t>Exact mates, conductor sizes and ratings</a:t>
            </a:r>
            <a:endParaRPr sz="1150"/>
          </a:p>
        </p:txBody>
      </p:sp>
      <p:sp>
        <p:nvSpPr>
          <p:cNvPr id="44" name="Text 32">
            <a:extLst xmlns:a="http://schemas.openxmlformats.org/drawingml/2006/main">
              <a:ext uri="{FF2B5EF4-FFF2-40B4-BE49-F238E27FC236}">
                <a16:creationId xmlns:a16="http://schemas.microsoft.com/office/drawing/2014/main" id="{C5767487-5895-4763-9756-3C9E6C00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0350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75"/>
            </a:pPr>
            <a:r>
              <a:rPr sz="1275" i="1">
                <a:solidFill>
                  <a:srgbClr val="2EC4B6"/>
                </a:solidFill>
                <a:latin typeface="Calibri"/>
                <a:ea typeface="Calibri"/>
                <a:cs typeface="Calibri"/>
              </a:rPr>
              <a:t>Open items: drive data, converter sizing, protection, harness validation and NFC reader selection.</a:t>
            </a:r>
            <a:endParaRPr sz="1400"/>
          </a:p>
        </p:txBody>
      </p:sp>
      <p:sp>
        <p:nvSpPr>
          <p:cNvPr id="45" name="Decision status 0">
            <a:extLst xmlns:a="http://schemas.openxmlformats.org/drawingml/2006/main">
              <a:ext uri="{FF2B5EF4-FFF2-40B4-BE49-F238E27FC236}">
                <a16:creationId xmlns:a16="http://schemas.microsoft.com/office/drawing/2014/main" id="{F47AEB86-ACAA-405F-94E3-EBF5B927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9B64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B641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B641D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46" name="Decision status 1">
            <a:extLst xmlns:a="http://schemas.openxmlformats.org/drawingml/2006/main">
              <a:ext uri="{FF2B5EF4-FFF2-40B4-BE49-F238E27FC236}">
                <a16:creationId xmlns:a16="http://schemas.microsoft.com/office/drawing/2014/main" id="{8555B271-3196-407A-B580-B1C763A5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9542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9B64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B641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B641D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47" name="Decision status 2">
            <a:extLst xmlns:a="http://schemas.openxmlformats.org/drawingml/2006/main">
              <a:ext uri="{FF2B5EF4-FFF2-40B4-BE49-F238E27FC236}">
                <a16:creationId xmlns:a16="http://schemas.microsoft.com/office/drawing/2014/main" id="{229D2C43-21B1-4318-ACD2-0D567866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9077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A5353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B641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B641D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48" name="Decision status 3">
            <a:extLst xmlns:a="http://schemas.openxmlformats.org/drawingml/2006/main">
              <a:ext uri="{FF2B5EF4-FFF2-40B4-BE49-F238E27FC236}">
                <a16:creationId xmlns:a16="http://schemas.microsoft.com/office/drawing/2014/main" id="{5F50DA40-5058-4F10-ADB2-656AE9D0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9077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9B64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B641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B641D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49" name="Decision status 4">
            <a:extLst xmlns:a="http://schemas.openxmlformats.org/drawingml/2006/main">
              <a:ext uri="{FF2B5EF4-FFF2-40B4-BE49-F238E27FC236}">
                <a16:creationId xmlns:a16="http://schemas.microsoft.com/office/drawing/2014/main" id="{F4CBFF72-01B2-497F-860C-ACFDD554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A5353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B641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B641D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50" name="Decision status 5">
            <a:extLst xmlns:a="http://schemas.openxmlformats.org/drawingml/2006/main">
              <a:ext uri="{FF2B5EF4-FFF2-40B4-BE49-F238E27FC236}">
                <a16:creationId xmlns:a16="http://schemas.microsoft.com/office/drawing/2014/main" id="{1FEDB7B8-7B5E-4BDD-8C38-FE45EA0B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8612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9B64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B641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B641D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51" name="Decision status 6">
            <a:extLst xmlns:a="http://schemas.openxmlformats.org/drawingml/2006/main">
              <a:ext uri="{FF2B5EF4-FFF2-40B4-BE49-F238E27FC236}">
                <a16:creationId xmlns:a16="http://schemas.microsoft.com/office/drawing/2014/main" id="{3A5C6857-ADF1-4B32-8092-263AAF25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9B64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B641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B641D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52" name="Decision status 7">
            <a:extLst xmlns:a="http://schemas.openxmlformats.org/drawingml/2006/main">
              <a:ext uri="{FF2B5EF4-FFF2-40B4-BE49-F238E27FC236}">
                <a16:creationId xmlns:a16="http://schemas.microsoft.com/office/drawing/2014/main" id="{F0E06702-9479-4F13-9734-2254FED1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8147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9B64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B641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B641D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53" name="Decision status 8">
            <a:extLst xmlns:a="http://schemas.openxmlformats.org/drawingml/2006/main">
              <a:ext uri="{FF2B5EF4-FFF2-40B4-BE49-F238E27FC236}">
                <a16:creationId xmlns:a16="http://schemas.microsoft.com/office/drawing/2014/main" id="{DD3ECE3A-9ABF-413B-BA6B-0AEE98CE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9B64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B641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B641D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54" name="Decision status 9">
            <a:extLst xmlns:a="http://schemas.openxmlformats.org/drawingml/2006/main">
              <a:ext uri="{FF2B5EF4-FFF2-40B4-BE49-F238E27FC236}">
                <a16:creationId xmlns:a16="http://schemas.microsoft.com/office/drawing/2014/main" id="{6F108D08-09DD-4068-B252-F2456649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7682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3335">
            <a:solidFill>
              <a:srgbClr val="9B64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9B641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B641D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</p:spTree>
    <p:extLst>
      <p:ext uri="{BB962C8B-B14F-4D97-AF65-F5344CB8AC3E}">
        <p14:creationId xmlns:p14="http://schemas.microsoft.com/office/powerpoint/2010/main" val="80159235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2026-09-25T14:40:50.3140000Z</dcterms:created>
  <dcterms:modified xsi:type="dcterms:W3CDTF">2026-09-25T14:40:50.3140000Z</dcterms:modified>
</coreProperties>
</file>