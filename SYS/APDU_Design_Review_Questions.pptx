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486400" cy="5486400"/>
          </a:xfrm>
          <a:prstGeom prst="ellipse">
            <a:avLst/>
          </a:prstGeom>
          <a:solidFill>
            <a:srgbClr val="112E4A"/>
          </a:solidFill>
          <a:ln w="12700">
            <a:solidFill>
              <a:srgbClr val="11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288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APDU Electrical Design Review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questions to close before schematics start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9377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Adherent360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Pharmaceutical Dispensing Unit (AVM)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Electrical System Level Wiring Diagram R23  ·  11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topics, one decision each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closed: no E-stop (vending machine) · table-door actuator out of scope · MAINCTRL and DOORIO are off-the-shelf boards.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1051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942186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830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920240" y="17830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drives from the mechanical BOM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0" y="181051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2474" y="194218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17830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7589520" y="17830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OCR: needed?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2606040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272491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285658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26974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1920240" y="26974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 and battery backup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217920" y="2606040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0" y="272491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2474" y="285658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0" y="26974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17"/>
          <p:cNvSpPr txBox="1"/>
          <p:nvPr/>
        </p:nvSpPr>
        <p:spPr>
          <a:xfrm>
            <a:off x="7589520" y="26974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 port location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3520440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" y="363931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4" y="3770986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36118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8" name="Text 21"/>
          <p:cNvSpPr txBox="1"/>
          <p:nvPr/>
        </p:nvSpPr>
        <p:spPr>
          <a:xfrm>
            <a:off x="1920240" y="36118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 (LTE) modem: needed?</a:t>
            </a:r>
            <a:endParaRPr lang="en-US" sz="1600" dirty="0"/>
          </a:p>
        </p:txBody>
      </p:sp>
      <p:sp>
        <p:nvSpPr>
          <p:cNvPr id="29" name="Shape 22"/>
          <p:cNvSpPr/>
          <p:nvPr/>
        </p:nvSpPr>
        <p:spPr>
          <a:xfrm>
            <a:off x="6217920" y="3520440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00800" y="363931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2474" y="3770986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132320" y="36118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33" name="Text 25"/>
          <p:cNvSpPr txBox="1"/>
          <p:nvPr/>
        </p:nvSpPr>
        <p:spPr>
          <a:xfrm>
            <a:off x="7589520" y="36118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illumination</a:t>
            </a:r>
            <a:endParaRPr lang="en-US" sz="1600" dirty="0"/>
          </a:p>
        </p:txBody>
      </p:sp>
      <p:sp>
        <p:nvSpPr>
          <p:cNvPr id="34" name="Shape 26"/>
          <p:cNvSpPr/>
          <p:nvPr/>
        </p:nvSpPr>
        <p:spPr>
          <a:xfrm>
            <a:off x="548640" y="4434840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31520" y="455371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94" y="4685386"/>
            <a:ext cx="285293" cy="285293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1463040" y="45262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8" name="Text 29"/>
          <p:cNvSpPr txBox="1"/>
          <p:nvPr/>
        </p:nvSpPr>
        <p:spPr>
          <a:xfrm>
            <a:off x="1920240" y="45262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connection: QR, Wi-Fi or BLE</a:t>
            </a:r>
            <a:endParaRPr lang="en-US" sz="1600" dirty="0"/>
          </a:p>
        </p:txBody>
      </p:sp>
      <p:sp>
        <p:nvSpPr>
          <p:cNvPr id="39" name="Shape 30"/>
          <p:cNvSpPr/>
          <p:nvPr/>
        </p:nvSpPr>
        <p:spPr>
          <a:xfrm>
            <a:off x="6217920" y="4434840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400800" y="455371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2474" y="4685386"/>
            <a:ext cx="285293" cy="285293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132320" y="45262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3" name="Text 33"/>
          <p:cNvSpPr txBox="1"/>
          <p:nvPr/>
        </p:nvSpPr>
        <p:spPr>
          <a:xfrm>
            <a:off x="7589520" y="45262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harness drawings</a:t>
            </a:r>
            <a:endParaRPr lang="en-US" sz="1600" dirty="0"/>
          </a:p>
        </p:txBody>
      </p:sp>
      <p:sp>
        <p:nvSpPr>
          <p:cNvPr id="44" name="Shape 34"/>
          <p:cNvSpPr/>
          <p:nvPr/>
        </p:nvSpPr>
        <p:spPr>
          <a:xfrm>
            <a:off x="548640" y="5349240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731520" y="546811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194" y="5599786"/>
            <a:ext cx="285293" cy="285293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1463040" y="54406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48" name="Text 37"/>
          <p:cNvSpPr txBox="1"/>
          <p:nvPr/>
        </p:nvSpPr>
        <p:spPr>
          <a:xfrm>
            <a:off x="1920240" y="54406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and card reader</a:t>
            </a:r>
            <a:endParaRPr lang="en-US" sz="1600" dirty="0"/>
          </a:p>
        </p:txBody>
      </p:sp>
      <p:sp>
        <p:nvSpPr>
          <p:cNvPr id="49" name="Shape 38"/>
          <p:cNvSpPr/>
          <p:nvPr/>
        </p:nvSpPr>
        <p:spPr>
          <a:xfrm>
            <a:off x="6217920" y="5349240"/>
            <a:ext cx="5394960" cy="786384"/>
          </a:xfrm>
          <a:prstGeom prst="roundRect">
            <a:avLst>
              <a:gd name="adj" fmla="val 11628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6400800" y="546811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2474" y="5599786"/>
            <a:ext cx="285293" cy="285293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7132320" y="5440680"/>
            <a:ext cx="457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53" name="Text 41"/>
          <p:cNvSpPr txBox="1"/>
          <p:nvPr/>
        </p:nvSpPr>
        <p:spPr>
          <a:xfrm>
            <a:off x="7589520" y="54406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standard</a:t>
            </a:r>
            <a:endParaRPr lang="en-US" sz="1600" dirty="0"/>
          </a:p>
        </p:txBody>
      </p:sp>
      <p:sp>
        <p:nvSpPr>
          <p:cNvPr id="54" name="Text 4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55" name="Text 43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baseline (R23)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898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conveyor lanes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rows × 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383280" y="13716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3898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boards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SYSCTRL · LANECTRL ×10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3716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3898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COTS controllers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MAINCTRL · DOORIO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52560" y="137160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389888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cables W01–W34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125 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035808"/>
            <a:ext cx="237744" cy="23774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143000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286000" y="285292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MAINCTRL = COTS MYIR MYD-YF13X (STM32MP135, Linux) · SYSCTRL custom STM32 (gantry + labeling) · DOORIO = COTS relay / IO module on RS485 · LANECTRL ×10 custom, our design, with the lane buttons and LEDs on the board.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3730752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840480"/>
            <a:ext cx="237744" cy="23774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143000" y="368503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2286000" y="3657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V motor rail · 12 V logic rail for every board · 48 V for the gantry drives · DIN fuses F1–F17.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48640" y="4535424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45152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143000" y="448970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Comms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4462272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backbone to SYSCTRL and the 10 lane rows · RS485 to DOORIO · Ethernet / Wi-Fi to the site.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534009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5449824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143000" y="529437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2286000" y="526694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Micro-Fit 3.0 on every PCB · one standard 4c 22 AWG cable · every cable named and listed.</a:t>
            </a:r>
            <a:endParaRPr lang="en-US" sz="11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3640" y="2880360"/>
            <a:ext cx="5394960" cy="253288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263640" y="54406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System Level Wiring Diagram R23 (full drawing in draw.io; tables in APDU_Electrical_Tables_R23.xlsx)</a:t>
            </a:r>
            <a:endParaRPr lang="en-US" sz="9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742432"/>
            <a:ext cx="1188720" cy="59436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543800" y="5760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conveyor CB002-24V-573mm: 24 V, ≤ 0.2 A idle, 5.8 cm/s, ≤ 6 kg — 70 of them, one LANECTRL per row of 7.</a:t>
            </a:r>
            <a:endParaRPr lang="en-US" sz="10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OF 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Gantry drives from the mechanical BOM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931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V drive units with brake and driver built in; SYSCTRL sends step / direction and reads alarms.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Emtech 57BYG250-76 closed-loop steppers, 2 N·m / 4 A, brake and driver integrated; X with a 3:1 gearbox.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48 V / 500 W supply (PSU3) for the two drive units; SYSCTRL keeps only STEP / DIR / ENA, ALARM and the brake outputs.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Omron EE-SX67x sensors with 1 m leads meet in JB-GANTRY; chains X 762 mm, Z 1616 mm.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09360" y="16459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1847088"/>
            <a:ext cx="384048" cy="384048"/>
          </a:xfrm>
          <a:prstGeom prst="ellipse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2" y="19392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ADHERENT360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3774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datasheet: STEP / DIR signal level, ALARM output, who controls the brake?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48 V really needed, or would the 24 V rail do?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drive acceptable, or a documented equivalent (Leadshine class)?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Labeling-mechanism BOM: when, and integrated drives there too?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61722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PSU count, SYSCTRL I/O, connectors J16 / J17, cables W11, W12, W29, W30.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OF 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and OCR: is it needed?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931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out of the R23 baseline; the labeling station keeps the space and the ports for it.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R23 has no camera, no ring light and no camera cable; nothing from the customer defines one yet.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MAINCTRL keeps a free USB 2.0 port and a spare Gigabit port, so a camera can be added later without a board change.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camera the chuck needs another reference to orient the bottle for marking: a mechanical stop, a sensor, or one fixed bottle type.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09360" y="16459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1847088"/>
            <a:ext cx="384048" cy="384048"/>
          </a:xfrm>
          <a:prstGeom prst="ellipse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2" y="19392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ADHERENT360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3774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camera needed at all: bottle orientation for marking, dispense verification, or an audit photo?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yes: read text (OCR), or only find a mark or the label edge?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or Ethernet camera, and where does it mount: labeling station or retrieval bay?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images stored? Labels carry patient data, so retention and encryption rules apply.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61722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MAINCTRL software scope, ring light and 24 V budget, one cable, labeling-station bracket.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OF 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 and battery backup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931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ride through a power cut; today the design has neither.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about 50 W, about 300 W while dispensing, up to 1.1 kW only if every rail peaks at once.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a 12 V battery pack (~50 Wh) keeps the controller, DOORIO, latches and network alive for about an hour and shuts down cleanly.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a 1–1.5 kVA line UPS keeps the whole machine dispensing for 10–15 min; needs a shelf and adds ~10 kg.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09360" y="16459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1847088"/>
            <a:ext cx="384048" cy="384048"/>
          </a:xfrm>
          <a:prstGeom prst="ellipse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2" y="19392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ADHERENT360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3774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keep working in an outage: records and doors, or full dispensing?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must the unit ride through?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 dispense in progress finish?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Latches fail-secure or fail-safe when power is lost?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61722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PSU2 sizing, cabinet layout, latch type, shutdown firmware.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OF 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Ethernet port location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931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 panel as drawn in R23: one RJ45 feed-through, no switch inside the cabinet.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RJ45 feed-through on the rear panel beside the AC inlet; Wi-Fi (USB module on MAINCTRL) is the backup path.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MAINCTRL has two Gigabit ports on board: one to the site, one spare for an Ethernet label marker. No switch in the cabinet.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external port means one cable and one MAC address on the pharmacy network.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09360" y="16459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1847088"/>
            <a:ext cx="384048" cy="384048"/>
          </a:xfrm>
          <a:prstGeom prst="ellipse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2" y="19392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ADHERENT360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3774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Rear, side or bottom for the port, and how close to the wall does the unit stand?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IP or DHCP; any VLAN or firewall rules?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label marker Ethernet or USB?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Wi-Fi acceptable as the only link at some sites?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61722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rear-panel cut-outs, cabinet BOM, IT onboarding sheet.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OF 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Cellular (LTE) modem: is it needed?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645920"/>
            <a:ext cx="310896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931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MAINCTRL board, MYIR MYD-YF13X (STM32MP135, 137 × 105 mm): the 4G module interface (mini-PCIe, USB) and its antenna are top left.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cellular path today; the site network carries the vend API and remote service.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LTE Cat-4 mini-PCIe module (Quectel EG25-G class, ~USD 60–90) plus two antennas is all the hardware needed.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a DIN-rail LTE router with failover (~USD 200–250), or no cellular at all.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09360" y="16459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1847088"/>
            <a:ext cx="384048" cy="384048"/>
          </a:xfrm>
          <a:prstGeom prst="ellipse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2" y="19392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ADHERENT360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3774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at all: primary link, failover, or remote diagnostics only?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SIM, the data plan and carrier certification?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volume: vend events only, or logs and diagnostics?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or fixed IP needed, or outbound HTTPS enough?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61722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rear-panel cut-outs, BOM, certification scope, monthly cost.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OF 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illumination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931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candidate zones, each on its own 12 V output.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lighting in the R23 baseline.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Proposal: 12 V LED strips per zone driven by SYSCTRL outputs — lane shelves, retrieval bay, return bay — switched on by events.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Micro-Fit connectors; about 1 A of 12 V per zone.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09360" y="16459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1847088"/>
            <a:ext cx="384048" cy="384048"/>
          </a:xfrm>
          <a:prstGeom prst="ellipse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2" y="19392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ADHERENT360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3774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zones need light?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customer through a window, or for staff during restocking?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on, or only on events?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white, or a status colour at the retrieval bay?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61722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SYSCTRL outputs, 12 V budget, row harness routing.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7 OF 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iPad connection: QR code, Wi-Fi or BLE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931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flow: same LAN, mDNS discovery, printed QR code for first pairing.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iPad talks to the unit over the pharmacy LAN; the unit talks to the Adherent servers.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mDNS discovery plus a printed QR code (unit ID and pairing token). No extra hardware.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only if proximity pairing is wanted; it needs the optional USB Wi-Fi / BT module, the board has no radio on board.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09360" y="16459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1847088"/>
            <a:ext cx="384048" cy="384048"/>
          </a:xfrm>
          <a:prstGeom prst="ellipse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2" y="19392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ADHERENT360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3774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the iPad be on the pharmacy Wi-Fi, or must it work without the site network?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QR code acceptable, or a dynamic code on the unit?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units per pharmacy?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authentication: the Adherent cloud or a local login?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61722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MAINCTRL software scope, cabinet label, antenna placement.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8 OF 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 harness drawings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45920"/>
            <a:ext cx="457200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931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rows in R23: every cable already carries its W number and appears in the cable list.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deliverable: one drawing per cable, W01–W34, derived from the R23 diagram and the cable list.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Lengths estimated from the CAD envelope (855 × 890 × 1905 mm): about 125 m in total, 146 m of the standard 4c 22 AWG cable.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paths and chain fill are needed from the mechanical team before lengths are final.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09360" y="16459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1847088"/>
            <a:ext cx="384048" cy="384048"/>
          </a:xfrm>
          <a:prstGeom prst="ellipse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2" y="19392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ADHERENT360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3774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get the cable routing paths and the chain inner sizes?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loops or blind-mate connectors on the drawer rows?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builds the harnesses: us, a harness shop, or the integrator?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existing colour or labelling convention?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61722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harness drawing effort, connector counts, BOM v1 timing.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9 OF 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NFC and card reader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22402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931920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R23 yet; the cut-out and cable can be planned now.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place: front panel next to the retrieval door, USB to MAINCTRL.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/ RFID reader: small cost and one USB port. Payment terminal: a certified third-party device.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the panel cut-out and cable now even if the reader comes later.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09360" y="16459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1847088"/>
            <a:ext cx="384048" cy="384048"/>
          </a:xfrm>
          <a:prstGeom prst="ellipse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2" y="19392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ADHERENT360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3774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case: staff login, patient pickup, or payment?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card: badge, patient ID, insurance, credit, phone wallet?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the reader sit?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 the Adherent cloud, or locally?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61722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MAINCTRL USB ports, front-panel cut-out, security scope.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700430"/>
            <a:ext cx="427939" cy="42793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 OF 10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554480" y="713232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 standard</a:t>
            </a:r>
            <a:endParaRPr lang="en-US" sz="3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17099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4015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Micro-Fit 3.0 parts used on every board (illustration).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721608"/>
            <a:ext cx="539496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PCB input and output: Molex Micro-Fit 3.0, 3 mm pitch, 5 A per pin, one crimp tool.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Panel: Schaffner IEC inlet, Neutrik RJ45, RP-SMA; DIN fuse terminals. Conveyor side: its own 3-position screw terminal.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Lane buttons and LEDs sit on the LANECTRL board itself, no extra harness; junction boxes use ferrules and WAGO 221.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309360" y="164592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F1F6F8"/>
          </a:solidFill>
          <a:ln w="12700">
            <a:solidFill>
              <a:srgbClr val="F1F6F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37960" y="1847088"/>
            <a:ext cx="384048" cy="384048"/>
          </a:xfrm>
          <a:prstGeom prst="ellipse">
            <a:avLst/>
          </a:prstGeom>
          <a:solidFill>
            <a:srgbClr val="E8756A"/>
          </a:solidFill>
          <a:ln w="12700">
            <a:solidFill>
              <a:srgbClr val="E8756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0132" y="1939260"/>
            <a:ext cx="199705" cy="19970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040880" y="18745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7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ADHERENT360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6537960" y="2377440"/>
            <a:ext cx="49377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connector vendor list to follow?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Tool-less field replacement of a LANECTRL or a conveyor expected?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rating for the front bays?</a:t>
            </a:r>
            <a:endParaRPr lang="en-US" sz="1500" dirty="0"/>
          </a:p>
          <a:p>
            <a:pPr marL="254000" indent="-2540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A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Keyed or colour-coded housings so rows cannot be cross-plugged?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309360" y="617220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BOM v1 connector lines, LANECTRL layout, service documentation.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Blackocean Technologies  ·  Adherent360 APDU  ·  Design review  ·  11 Sep 2026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029200" cy="5029200"/>
          </a:xfrm>
          <a:prstGeom prst="ellipse">
            <a:avLst/>
          </a:prstGeom>
          <a:solidFill>
            <a:srgbClr val="112E4A"/>
          </a:solidFill>
          <a:ln w="12700">
            <a:solidFill>
              <a:srgbClr val="112E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we need to leave with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470" y="160971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173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Gantry drives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465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V confirmed · drive interface · datasheet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09360" y="1508760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10" y="160971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03720" y="141732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 OCR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903720" y="174650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at all · purpose · USB vs Ethernet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31520" y="2404872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70" y="2505822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23134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power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26426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records-only battery vs full UPS · ride-through time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309360" y="2404872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10" y="2505822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03720" y="231343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6903720" y="264261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location · IP policy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31520" y="3300984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70" y="3401934"/>
            <a:ext cx="218724" cy="2187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32095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325880" y="35387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or not · failover vs primary · SIM owner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309360" y="3300984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0310" y="3401934"/>
            <a:ext cx="218724" cy="21872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6903720" y="320954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6903720" y="353872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· event-driven vs always on · colour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731520" y="4197096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470" y="4298046"/>
            <a:ext cx="218724" cy="21872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325880" y="41056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iPad pairing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1325880" y="44348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+ QR (recommended) vs AP mode vs BLE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6309360" y="4197096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0310" y="4298046"/>
            <a:ext cx="218724" cy="218724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6903720" y="410565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Harnesses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6903720" y="443484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paths from mechanical · who builds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731520" y="5093208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470" y="5194158"/>
            <a:ext cx="218724" cy="218724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325880" y="50017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/ card</a:t>
            </a:r>
            <a:endParaRPr lang="en-US" sz="1500" dirty="0"/>
          </a:p>
        </p:txBody>
      </p:sp>
      <p:sp>
        <p:nvSpPr>
          <p:cNvPr id="39" name="Text 28"/>
          <p:cNvSpPr txBox="1"/>
          <p:nvPr/>
        </p:nvSpPr>
        <p:spPr>
          <a:xfrm>
            <a:off x="1325880" y="53309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· card type · location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6309360" y="5093208"/>
            <a:ext cx="420624" cy="42062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10" y="5194158"/>
            <a:ext cx="218724" cy="218724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6903720" y="500176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500" dirty="0"/>
          </a:p>
        </p:txBody>
      </p:sp>
      <p:sp>
        <p:nvSpPr>
          <p:cNvPr id="43" name="Text 31"/>
          <p:cNvSpPr txBox="1"/>
          <p:nvPr/>
        </p:nvSpPr>
        <p:spPr>
          <a:xfrm>
            <a:off x="6903720" y="533095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list · tool-less service · IP rating</a:t>
            </a:r>
            <a:endParaRPr lang="en-US" sz="1150" dirty="0"/>
          </a:p>
        </p:txBody>
      </p:sp>
      <p:sp>
        <p:nvSpPr>
          <p:cNvPr id="44" name="Text 32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answers go into the next revision of the wiring diagram and into BOM v1, then schematic capture starts.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APDU Electrical Design Review</dc:title>
  <dc:subject>PptxGenJS Presentation</dc:subject>
  <dc:creator>Blackocean Technologies</dc:creator>
  <cp:lastModifiedBy>Blackocean Technologies</cp:lastModifiedBy>
  <cp:revision>1</cp:revision>
  <dcterms:created xsi:type="dcterms:W3CDTF">2026-09-11T15:19:08Z</dcterms:created>
  <dcterms:modified xsi:type="dcterms:W3CDTF">2026-09-11T15:19:08Z</dcterms:modified>
</cp:coreProperties>
</file>