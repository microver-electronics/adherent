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b5c137167e468f" /><Relationship Type="http://schemas.openxmlformats.org/officeDocument/2006/relationships/extended-properties" Target="/docProps/app.xml" Id="R3812aca07d1e4f10" /><Relationship Type="http://schemas.openxmlformats.org/officeDocument/2006/relationships/officeDocument" Target="/ppt/presentation.xml" Id="Ra5a94bfbca7e4b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23a687ffd4821"/>
  </p:sldMasterIdLst>
  <p:notesMasterIdLst>
    <p:notesMasterId xmlns:r="http://schemas.openxmlformats.org/officeDocument/2006/relationships" r:id="Ra47d7ddfc1ee4a16"/>
  </p:notesMasterIdLst>
  <p:sldIdLst>
    <p:sldId xmlns:r="http://schemas.openxmlformats.org/officeDocument/2006/relationships" id="256" r:id="Rf630cf96948546b8"/>
    <p:sldId xmlns:r="http://schemas.openxmlformats.org/officeDocument/2006/relationships" id="257" r:id="R45eb804a21b943b1"/>
    <p:sldId xmlns:r="http://schemas.openxmlformats.org/officeDocument/2006/relationships" id="258" r:id="Rde9a41ae07aa4871"/>
    <p:sldId xmlns:r="http://schemas.openxmlformats.org/officeDocument/2006/relationships" id="259" r:id="R6165732c137549d3"/>
    <p:sldId xmlns:r="http://schemas.openxmlformats.org/officeDocument/2006/relationships" id="260" r:id="Rba5262478f22409b"/>
    <p:sldId xmlns:r="http://schemas.openxmlformats.org/officeDocument/2006/relationships" id="261" r:id="R84ce9373ac124c9d"/>
    <p:sldId xmlns:r="http://schemas.openxmlformats.org/officeDocument/2006/relationships" id="262" r:id="Rbdb4cbd12e3041a7"/>
    <p:sldId xmlns:r="http://schemas.openxmlformats.org/officeDocument/2006/relationships" id="263" r:id="R767e6140475d4298"/>
    <p:sldId xmlns:r="http://schemas.openxmlformats.org/officeDocument/2006/relationships" id="264" r:id="R953f0409dc3a4673"/>
    <p:sldId xmlns:r="http://schemas.openxmlformats.org/officeDocument/2006/relationships" id="265" r:id="Rd3069cd0901148bb"/>
    <p:sldId xmlns:r="http://schemas.openxmlformats.org/officeDocument/2006/relationships" id="266" r:id="R6c63e56468514791"/>
    <p:sldId xmlns:r="http://schemas.openxmlformats.org/officeDocument/2006/relationships" id="267" r:id="R37e3870eda104caf"/>
    <p:sldId xmlns:r="http://schemas.openxmlformats.org/officeDocument/2006/relationships" id="268" r:id="Re767038729f147b5"/>
    <p:sldId xmlns:r="http://schemas.openxmlformats.org/officeDocument/2006/relationships" id="269" r:id="R1a899785e70845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b94ab51534def" /><Relationship Type="http://schemas.openxmlformats.org/officeDocument/2006/relationships/slideMaster" Target="/ppt/slideMasters/slideMaster1.xml" Id="Rc3023a687ffd4821" /><Relationship Type="http://schemas.openxmlformats.org/officeDocument/2006/relationships/notesMaster" Target="/ppt/notesMasters/notesMaster1.xml" Id="Ra47d7ddfc1ee4a16" /><Relationship Type="http://schemas.openxmlformats.org/officeDocument/2006/relationships/presProps" Target="/ppt/presProps.xml" Id="Rb803681a573e47c7" /><Relationship Type="http://schemas.openxmlformats.org/officeDocument/2006/relationships/viewProps" Target="/ppt/viewProps.xml" Id="Rf0a638d9dd59454a" /><Relationship Type="http://schemas.openxmlformats.org/officeDocument/2006/relationships/tableStyles" Target="/ppt/tableStyles.xml" Id="Ra987544d4dd54ffc" /><Relationship Type="http://schemas.openxmlformats.org/officeDocument/2006/relationships/slide" Target="/ppt/slides/slide1.xml" Id="Rf630cf96948546b8" /><Relationship Type="http://schemas.openxmlformats.org/officeDocument/2006/relationships/slide" Target="/ppt/slides/slide2.xml" Id="R45eb804a21b943b1" /><Relationship Type="http://schemas.openxmlformats.org/officeDocument/2006/relationships/slide" Target="/ppt/slides/slide3.xml" Id="Rde9a41ae07aa4871" /><Relationship Type="http://schemas.openxmlformats.org/officeDocument/2006/relationships/slide" Target="/ppt/slides/slide4.xml" Id="R6165732c137549d3" /><Relationship Type="http://schemas.openxmlformats.org/officeDocument/2006/relationships/slide" Target="/ppt/slides/slide5.xml" Id="Rba5262478f22409b" /><Relationship Type="http://schemas.openxmlformats.org/officeDocument/2006/relationships/slide" Target="/ppt/slides/slide6.xml" Id="R84ce9373ac124c9d" /><Relationship Type="http://schemas.openxmlformats.org/officeDocument/2006/relationships/slide" Target="/ppt/slides/slide7.xml" Id="Rbdb4cbd12e3041a7" /><Relationship Type="http://schemas.openxmlformats.org/officeDocument/2006/relationships/slide" Target="/ppt/slides/slide8.xml" Id="R767e6140475d4298" /><Relationship Type="http://schemas.openxmlformats.org/officeDocument/2006/relationships/slide" Target="/ppt/slides/slide9.xml" Id="R953f0409dc3a4673" /><Relationship Type="http://schemas.openxmlformats.org/officeDocument/2006/relationships/slide" Target="/ppt/slides/slide10.xml" Id="Rd3069cd0901148bb" /><Relationship Type="http://schemas.openxmlformats.org/officeDocument/2006/relationships/slide" Target="/ppt/slides/slide11.xml" Id="R6c63e56468514791" /><Relationship Type="http://schemas.openxmlformats.org/officeDocument/2006/relationships/slide" Target="/ppt/slides/slide12.xml" Id="R37e3870eda104caf" /><Relationship Type="http://schemas.openxmlformats.org/officeDocument/2006/relationships/slide" Target="/ppt/slides/slide13.xml" Id="Re767038729f147b5" /><Relationship Type="http://schemas.openxmlformats.org/officeDocument/2006/relationships/slide" Target="/ppt/slides/slide14.xml" Id="R1a899785e70845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f1ef65aa8b41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c62bfa5f8343a5" /><Relationship Type="http://schemas.openxmlformats.org/officeDocument/2006/relationships/notesMaster" Target="/ppt/notesMasters/notesMaster1.xml" Id="R78fc186de4744e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4355c6b7454940" /><Relationship Type="http://schemas.openxmlformats.org/officeDocument/2006/relationships/notesMaster" Target="/ppt/notesMasters/notesMaster1.xml" Id="Rab46de58ed1f49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b71ceb26034596" /><Relationship Type="http://schemas.openxmlformats.org/officeDocument/2006/relationships/notesMaster" Target="/ppt/notesMasters/notesMaster1.xml" Id="R3ddd366362ea44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bb25486cb34071" /><Relationship Type="http://schemas.openxmlformats.org/officeDocument/2006/relationships/notesMaster" Target="/ppt/notesMasters/notesMaster1.xml" Id="Raf18c10268cf40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7caa8d4cd647de" /><Relationship Type="http://schemas.openxmlformats.org/officeDocument/2006/relationships/notesMaster" Target="/ppt/notesMasters/notesMaster1.xml" Id="R10db99d52f7541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ea25aeedd3499a" /><Relationship Type="http://schemas.openxmlformats.org/officeDocument/2006/relationships/notesMaster" Target="/ppt/notesMasters/notesMaster1.xml" Id="R641f1a1ad56148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5dc24949e4ae0" /><Relationship Type="http://schemas.openxmlformats.org/officeDocument/2006/relationships/notesMaster" Target="/ppt/notesMasters/notesMaster1.xml" Id="R67e43d2862ef49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7aa20b920045ca" /><Relationship Type="http://schemas.openxmlformats.org/officeDocument/2006/relationships/notesMaster" Target="/ppt/notesMasters/notesMaster1.xml" Id="Rba8bf024b6d24c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d84679b1034c2b" /><Relationship Type="http://schemas.openxmlformats.org/officeDocument/2006/relationships/notesMaster" Target="/ppt/notesMasters/notesMaster1.xml" Id="R05f02db4f9ba4f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06b6c5f50a453e" /><Relationship Type="http://schemas.openxmlformats.org/officeDocument/2006/relationships/notesMaster" Target="/ppt/notesMasters/notesMaster1.xml" Id="R0968a59ebf6d48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10fb00cc084f2a" /><Relationship Type="http://schemas.openxmlformats.org/officeDocument/2006/relationships/notesMaster" Target="/ppt/notesMasters/notesMaster1.xml" Id="R28bd6d436d3547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4aeb2dfefe4e06" /><Relationship Type="http://schemas.openxmlformats.org/officeDocument/2006/relationships/notesMaster" Target="/ppt/notesMasters/notesMaster1.xml" Id="R1f832d5de2314e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84a6659cfa4a35" /><Relationship Type="http://schemas.openxmlformats.org/officeDocument/2006/relationships/notesMaster" Target="/ppt/notesMasters/notesMaster1.xml" Id="R0d9031bcc2f444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0d9dbb012144d7" /><Relationship Type="http://schemas.openxmlformats.org/officeDocument/2006/relationships/notesMaster" Target="/ppt/notesMasters/notesMaster1.xml" Id="R737fb2168875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R27 design review, 2026-09-24. Source: APDU_Electrical_Tables_R27.xlsx (BOM, Power, OpenItems and Sources). Confirmed project scope: single 24 V system PSU, SYSCTRL-derived 12 V, direct sensor wiring without junction boxes. Engineering release remains on hold. Supplier references: https://www.meanwell.com/Upload/PDF/RSP-500/RSP-500-SPEC.PDF ; https://www.myirtech.com/list.asp?id=727 ; https://www.waveshare.com/wiki/ESP32-S3-ETH-8DI-8RO ;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1a520bb7c942d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934d641b524829" /><Relationship Type="http://schemas.openxmlformats.org/officeDocument/2006/relationships/slideLayout" Target="/ppt/slideLayouts/slideLayout1.xml" Id="R268ac4a32ac6484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ac4a32ac6484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bcb552f9b451f" /><Relationship Type="http://schemas.openxmlformats.org/officeDocument/2006/relationships/notesSlide" Target="/ppt/notesSlides/notesSlide1.xml" Id="R080d60f3de744e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ef984103e43be" /><Relationship Type="http://schemas.openxmlformats.org/officeDocument/2006/relationships/image" Target="/ppt/media/image.png" Id="R45dc7099d27b4754" /><Relationship Type="http://schemas.openxmlformats.org/officeDocument/2006/relationships/image" Target="/ppt/media/image2.png" Id="R47ce66d344424823" /><Relationship Type="http://schemas.openxmlformats.org/officeDocument/2006/relationships/image" Target="/ppt/media/image3.png" Id="R67a5e13215874cfd" /><Relationship Type="http://schemas.openxmlformats.org/officeDocument/2006/relationships/image" Target="/ppt/media/image4.png" Id="Rd9acbf08faba4231" /><Relationship Type="http://schemas.openxmlformats.org/officeDocument/2006/relationships/image" Target="/ppt/media/image5.png" Id="Rb7f56a56c1da4118" /><Relationship Type="http://schemas.openxmlformats.org/officeDocument/2006/relationships/image" Target="/ppt/media/image6.png" Id="R1e0f1fd2f35a400d" /><Relationship Type="http://schemas.openxmlformats.org/officeDocument/2006/relationships/image" Target="/ppt/media/image7.png" Id="R473d27ea14d24464" /><Relationship Type="http://schemas.openxmlformats.org/officeDocument/2006/relationships/image" Target="/ppt/media/image8.png" Id="Rc1822a9a8ca34bfd" /><Relationship Type="http://schemas.openxmlformats.org/officeDocument/2006/relationships/image" Target="/ppt/media/image9.png" Id="R65fcb9cf93ca4b79" /><Relationship Type="http://schemas.openxmlformats.org/officeDocument/2006/relationships/image" Target="/ppt/media/image10.png" Id="R1f9e41ef013f434a" /><Relationship Type="http://schemas.openxmlformats.org/officeDocument/2006/relationships/notesSlide" Target="/ppt/notesSlides/notesSlide2.xml" Id="R4f6c0ad2831f48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f3ae6b3324b22" /><Relationship Type="http://schemas.openxmlformats.org/officeDocument/2006/relationships/image" Target="/ppt/media/image11.png" Id="Rd9a8f16fef664eda" /><Relationship Type="http://schemas.openxmlformats.org/officeDocument/2006/relationships/image" Target="/ppt/media/image12.png" Id="R7a5d341d02704fb7" /><Relationship Type="http://schemas.openxmlformats.org/officeDocument/2006/relationships/image" Target="/ppt/media/image13.png" Id="R6db5f1d733b646f1" /><Relationship Type="http://schemas.openxmlformats.org/officeDocument/2006/relationships/image" Target="/ppt/media/image14.png" Id="Rf1b306b038e44021" /><Relationship Type="http://schemas.openxmlformats.org/officeDocument/2006/relationships/image" Target="/ppt/media/image15.png" Id="Rcfbd8d44470d4035" /><Relationship Type="http://schemas.openxmlformats.org/officeDocument/2006/relationships/image" Target="/ppt/media/image16.png" Id="Rfd72677e194547d3" /><Relationship Type="http://schemas.openxmlformats.org/officeDocument/2006/relationships/notesSlide" Target="/ppt/notesSlides/notesSlide3.xml" Id="R22e5f461c2b444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63ca7a5de46ab" /><Relationship Type="http://schemas.openxmlformats.org/officeDocument/2006/relationships/image" Target="/ppt/media/image17.png" Id="Rc0738471558449b7" /><Relationship Type="http://schemas.openxmlformats.org/officeDocument/2006/relationships/image" Target="/ppt/media/image18.png" Id="R14d27ad39e6d4a8c" /><Relationship Type="http://schemas.openxmlformats.org/officeDocument/2006/relationships/notesSlide" Target="/ppt/notesSlides/notesSlide4.xml" Id="R290d77399e8348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d5bb3accc40ee" /><Relationship Type="http://schemas.openxmlformats.org/officeDocument/2006/relationships/image" Target="/ppt/media/image19.png" Id="Rc67f57ba655445a5" /><Relationship Type="http://schemas.openxmlformats.org/officeDocument/2006/relationships/image" Target="/ppt/media/image20.png" Id="R01740b7015444f34" /><Relationship Type="http://schemas.openxmlformats.org/officeDocument/2006/relationships/notesSlide" Target="/ppt/notesSlides/notesSlide5.xml" Id="Ra3b253d066b84b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1224b0355495a" /><Relationship Type="http://schemas.openxmlformats.org/officeDocument/2006/relationships/image" Target="/ppt/media/image21.png" Id="Rdeb8ad76689c4ab7" /><Relationship Type="http://schemas.openxmlformats.org/officeDocument/2006/relationships/image" Target="/ppt/media/image22.png" Id="Rb9417acec06d4799" /><Relationship Type="http://schemas.openxmlformats.org/officeDocument/2006/relationships/notesSlide" Target="/ppt/notesSlides/notesSlide6.xml" Id="Rf731c393582f4f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5b4f245414d6d" /><Relationship Type="http://schemas.openxmlformats.org/officeDocument/2006/relationships/image" Target="/ppt/media/image23.png" Id="R5ff207cc58714827" /><Relationship Type="http://schemas.openxmlformats.org/officeDocument/2006/relationships/image" Target="/ppt/media/image24.png" Id="R08b05489722e4130" /><Relationship Type="http://schemas.openxmlformats.org/officeDocument/2006/relationships/notesSlide" Target="/ppt/notesSlides/notesSlide7.xml" Id="R1784d92c05a840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6732e97504f7b" /><Relationship Type="http://schemas.openxmlformats.org/officeDocument/2006/relationships/image" Target="/ppt/media/image25.png" Id="Ra3c19df52b634ec3" /><Relationship Type="http://schemas.openxmlformats.org/officeDocument/2006/relationships/image" Target="/ppt/media/image26.png" Id="R01272829fe524bf8" /><Relationship Type="http://schemas.openxmlformats.org/officeDocument/2006/relationships/image" Target="/ppt/media/image27.png" Id="Rc67e43ed2a644360" /><Relationship Type="http://schemas.openxmlformats.org/officeDocument/2006/relationships/notesSlide" Target="/ppt/notesSlides/notesSlide8.xml" Id="R82457af3e07044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e90b439f44598" /><Relationship Type="http://schemas.openxmlformats.org/officeDocument/2006/relationships/image" Target="/ppt/media/image28.png" Id="R384556c7b62b4f3d" /><Relationship Type="http://schemas.openxmlformats.org/officeDocument/2006/relationships/image" Target="/ppt/media/image29.png" Id="Rdac6dc95d08545ee" /><Relationship Type="http://schemas.openxmlformats.org/officeDocument/2006/relationships/notesSlide" Target="/ppt/notesSlides/notesSlide9.xml" Id="R006dc332b76a4f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15f54eac7459d" /><Relationship Type="http://schemas.openxmlformats.org/officeDocument/2006/relationships/image" Target="/ppt/media/image30.png" Id="R82a55938ada041a1" /><Relationship Type="http://schemas.openxmlformats.org/officeDocument/2006/relationships/image" Target="/ppt/media/image31.png" Id="R057b17d59da84b51" /><Relationship Type="http://schemas.openxmlformats.org/officeDocument/2006/relationships/image" Target="/ppt/media/image32.png" Id="R77ab0427c5654594" /><Relationship Type="http://schemas.openxmlformats.org/officeDocument/2006/relationships/notesSlide" Target="/ppt/notesSlides/notesSlide10.xml" Id="Re6a93d9240384a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7fbf05f5c4cc1" /><Relationship Type="http://schemas.openxmlformats.org/officeDocument/2006/relationships/image" Target="/ppt/media/image33.png" Id="R1d3564c902bb4a15" /><Relationship Type="http://schemas.openxmlformats.org/officeDocument/2006/relationships/image" Target="/ppt/media/image34.png" Id="R233d5089b35b4926" /><Relationship Type="http://schemas.openxmlformats.org/officeDocument/2006/relationships/notesSlide" Target="/ppt/notesSlides/notesSlide11.xml" Id="R3d4e58c6c70241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03986a92f4939" /><Relationship Type="http://schemas.openxmlformats.org/officeDocument/2006/relationships/image" Target="/ppt/media/image35.png" Id="Rec50509a51aa4991" /><Relationship Type="http://schemas.openxmlformats.org/officeDocument/2006/relationships/image" Target="/ppt/media/image36.png" Id="R72294e5aba51438e" /><Relationship Type="http://schemas.openxmlformats.org/officeDocument/2006/relationships/image" Target="/ppt/media/image37.png" Id="Rd0b42f281b1547f4" /><Relationship Type="http://schemas.openxmlformats.org/officeDocument/2006/relationships/notesSlide" Target="/ppt/notesSlides/notesSlide12.xml" Id="Racbd8594c10e4d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b6e48583641e3" /><Relationship Type="http://schemas.openxmlformats.org/officeDocument/2006/relationships/image" Target="/ppt/media/image38.png" Id="R90cb3e9b1ab342dc" /><Relationship Type="http://schemas.openxmlformats.org/officeDocument/2006/relationships/image" Target="/ppt/media/image39.png" Id="R429b1a95cb204450" /><Relationship Type="http://schemas.openxmlformats.org/officeDocument/2006/relationships/notesSlide" Target="/ppt/notesSlides/notesSlide13.xml" Id="Rf0eb86caee5247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097429bb54c24" /><Relationship Type="http://schemas.openxmlformats.org/officeDocument/2006/relationships/notesSlide" Target="/ppt/notesSlides/notesSlide14.xml" Id="Rf739fe1718d848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6D9ED5-BE86-40FB-BF16-9A2EFE0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-146304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2180D7-7E83-4534-B5D6-69AE7040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062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D40019-3515-4DDA-8E21-2AA8CF4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BLACKOCEAN TECHNOLOGIES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FF8C36-BEC6-4DC3-AAE3-38D255EB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8686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APDU Electrical Design Review</a:t>
            </a:r>
            <a:endParaRPr sz="4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112AE0-9EC9-40B8-8320-53EF3DF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Aligned architecture, BOM and engineering release gates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E81FED-00FE-469E-92E1-31E81E15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3776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for Adherent360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Automated Pharmaceutical Dispensing Unit (AVM)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Baseline: Electrical System Level Wiring Diagram R27  ·  24 September 2026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00731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2B254E-5B5A-4CAC-8DE0-76E9C3F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Review topics and meeting decisions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38C2C3-8D42-412B-A5CD-3F0A6CF3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/>
            </a:pPr>
            <a:r>
              <a:rPr sz="1275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Confirmed: one 24 V PSU · on-board 12 V conversion · direct sensor wiring · no junction boxes · COTS MAINCTRL and IOCTRL.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79DED9-C4DD-44BB-B0F6-B8F80FF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68B254E-1832-4ADF-85E1-E84D8E21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105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c7099d27b4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19421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D95B82-F195-4129-AD81-E86F719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</a:t>
            </a:r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FEBD87-1107-4083-98C7-A0F598B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Gantry drives from the mechanical BOM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92BC77F-DCDF-40E4-A393-8459E720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41FA2F8-F5B6-45C2-9121-6B7D852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105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e66d34442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19421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2C07C9B-9498-4818-A2D7-EB6D4D83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2</a:t>
            </a:r>
            <a:endParaRPr sz="2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A1DD12B-ACA2-439D-A47F-FBA5BF19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Camera and OCR: needed?</a:t>
            </a:r>
            <a:endParaRPr sz="16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5545B46-D722-4136-8AA3-E0D04B32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53C24B4-301E-42F5-84A3-72C553B7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249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5e13215874c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28565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CC2302F-52CF-4D90-8B0E-05FE732D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</a:t>
            </a:r>
            <a:endParaRPr sz="2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5E77484-AABD-42DC-8CD5-BAC93976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60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UPS / battery: not approved</a:t>
            </a:r>
            <a:endParaRPr sz="16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9118E52-9AA8-43B3-9E60-8431B91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AFAF9D91-9B3D-4F5F-B55D-76C751F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9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cbf08faba4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28565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311E3111-2295-47AB-89BE-727DC7D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4</a:t>
            </a:r>
            <a:endParaRPr sz="2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237E5E6-13FE-4EB9-BA3A-1E704E3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Ethernet port location</a:t>
            </a:r>
            <a:endParaRPr sz="16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56581ECD-8D20-471C-AF87-9717B7F9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C86D00F9-1AE5-413F-8CB3-DEB4FDB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3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9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56a56c1da4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37709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A6AB510-F661-4ED1-A79B-D0F217C6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5</a:t>
            </a:r>
            <a:endParaRPr sz="24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3C647C9C-3B43-45D8-A398-8EF428D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60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Cellular: not approved</a:t>
            </a:r>
            <a:endParaRPr sz="16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2BC8FA37-7651-4559-8779-5EDF08D7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A157E260-957E-4E43-AD9E-F363F5D0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93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9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f1fd2f35a40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37709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7758A562-BA5A-4DC0-87CB-DD8176E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6</a:t>
            </a:r>
            <a:endParaRPr sz="24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98A467CB-7404-42A9-B5CA-B4C4FEB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Product illumination</a:t>
            </a:r>
            <a:endParaRPr sz="16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13D48605-C190-4B68-8FB8-88163309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648EDAFF-D131-4533-A86A-0381148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0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d27ea14d24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46853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0346DADC-6ABE-4A59-9E82-4CF44874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7</a:t>
            </a:r>
            <a:endParaRPr sz="240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50FB53D-9CA0-4921-907D-6904717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iPad connection: QR, Wi-Fi or BLE</a:t>
            </a:r>
            <a:endParaRPr sz="1600"/>
          </a:p>
        </p:txBody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82B14BCF-30F3-4EFE-8118-224EDB8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AE48327B-3EF3-4F32-BDDE-72D3893E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37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22a9a8ca34b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46853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89A8ECFE-4991-4111-8D0C-3F0AD6B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8</a:t>
            </a:r>
            <a:endParaRPr sz="2400"/>
          </a:p>
        </p:txBody>
      </p:sp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CB234850-BB9B-4BF2-8DA0-282D98D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Wire harness drawings</a:t>
            </a:r>
            <a:endParaRPr sz="1600"/>
          </a:p>
        </p:txBody>
      </p:sp>
      <p:sp>
        <p:nvSpPr>
          <p:cNvPr id="44" name="Shape 34">
            <a:extLst xmlns:a="http://schemas.openxmlformats.org/drawingml/2006/main">
              <a:ext uri="{FF2B5EF4-FFF2-40B4-BE49-F238E27FC236}">
                <a16:creationId xmlns:a16="http://schemas.microsoft.com/office/drawing/2014/main" id="{E7AC99AC-3EE0-439A-B825-0A51252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6518A0F2-1F57-4583-8177-564AA8F2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68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1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cb9cf93ca4b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55997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5E296353-7512-42DB-87BB-B0AFA43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9</a:t>
            </a:r>
            <a:endParaRPr sz="24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2E7EC0CB-3D05-4E2B-90C3-30C6088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NFC and card reader</a:t>
            </a:r>
            <a:endParaRPr sz="16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38AB4E29-93C3-480B-BAD1-7FBD2EB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0" name="Shape 39">
            <a:extLst xmlns:a="http://schemas.openxmlformats.org/drawingml/2006/main">
              <a:ext uri="{FF2B5EF4-FFF2-40B4-BE49-F238E27FC236}">
                <a16:creationId xmlns:a16="http://schemas.microsoft.com/office/drawing/2014/main" id="{B58F6EF6-620C-470D-8617-6455BEC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8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e41ef013f43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55997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F0EB91CD-F618-4468-BEC0-42AA30D2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10</a:t>
            </a:r>
            <a:endParaRPr sz="24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BE851B35-5A5E-4883-BBF0-EBEF6E5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 standard</a:t>
            </a:r>
            <a:endParaRPr sz="1600"/>
          </a:p>
        </p:txBody>
      </p:sp>
      <p:sp>
        <p:nvSpPr>
          <p:cNvPr id="54" name="Text 42">
            <a:extLst xmlns:a="http://schemas.openxmlformats.org/drawingml/2006/main">
              <a:ext uri="{FF2B5EF4-FFF2-40B4-BE49-F238E27FC236}">
                <a16:creationId xmlns:a16="http://schemas.microsoft.com/office/drawing/2014/main" id="{67BA34BC-C010-4161-ADFA-936E7CB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55" name="Text 43">
            <a:extLst xmlns:a="http://schemas.openxmlformats.org/drawingml/2006/main">
              <a:ext uri="{FF2B5EF4-FFF2-40B4-BE49-F238E27FC236}">
                <a16:creationId xmlns:a16="http://schemas.microsoft.com/office/drawing/2014/main" id="{C1750C33-4395-40C5-8CD9-DBA7F5E3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09021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B91585-76C7-4F18-B891-98873E8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Architecture baseline (R27)</a:t>
            </a:r>
            <a:endParaRPr sz="3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2EA075-54CE-415E-A23C-476E28A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9A0680-B6F3-4B3B-B79B-5A42D3D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70</a:t>
            </a:r>
            <a:endParaRPr sz="4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471C5D-0815-472C-9F62-5DDD7DD1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conveyor lanes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10 rows × 7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D067D9A-D0E8-4093-8B52-EF671518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A711FF-CF7D-458E-908D-C87596C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132184-A8AE-4441-918C-DB747D06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custom boards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SYSCTRL · LANECTRL ×10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0988E7-B4F8-402A-ABE7-6C7890A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37EE27-B702-47B8-9487-E24ED81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3C1A34-09FC-4A26-BDD5-7511969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COTS controllers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MAINCTRL ·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IOCTRL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8A8B518-E668-4B65-82A9-09000557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3F42E25-BA6B-475D-B68E-307FB1AE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31</a:t>
            </a:r>
            <a:endParaRPr sz="4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2CEC1D6-3383-44EA-AE3A-9C225530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required cable types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5 routes need lengths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731E4D-17D4-43DC-AF27-020FC3B8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8f16fef664e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0B5376C-A770-42BE-ACD9-596C963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0360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Boards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2F6957E-7A55-4F65-AE7B-6ED3C59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2928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/>
            </a:pPr>
            <a:r>
              <a:rPr sz="112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×1 and IOCTRL ×1 are COTS. SYSCTRL ×1 and LANECTRL ×10 are custom assemblies. Each lane row has seven motors, buttons and LEDs.</a:t>
            </a:r>
            <a:endParaRPr sz="1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5EAEA85-2736-481A-8998-16D1791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d341d02704f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8404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D4B2DF5-5E7B-4662-982B-E63F6AE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5032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Power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BA74461-0BDA-44BC-99EB-B3D5A52B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57600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/>
            </a:pPr>
            <a:r>
              <a:rPr sz="112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One 24 V / 21 A PSU. SYSCTRL generates 12 V. IOCTRL uses 24 V module power plus separate 12 V relay contacts.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BDE644F-0484-47AB-BA7E-DAB03639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354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5f1d733b646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6451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292077F8-AF2E-42D6-BECA-3E3F4F8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9704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Comms</a:t>
            </a:r>
            <a:endParaRPr sz="14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869E0954-1769-43FE-844C-281338A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62272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/>
            </a:pPr>
            <a:r>
              <a:rPr sz="112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CAN: MAINCTRL → SYSCTRL → lane rows. Separate RS485 to IOCTRL. Wired site Ethernet; Wi-Fi/BLE remains optional.</a:t>
            </a:r>
            <a:endParaRPr sz="11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001B1D42-51F3-43C5-A22B-A604677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306b038e440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2E896CD-E153-4BBF-AF5D-689977BD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4376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Connectors</a:t>
            </a:r>
            <a:endParaRPr sz="14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977146B5-0FEB-4A2B-B73C-D1C59C3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6944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/>
            </a:pPr>
            <a:r>
              <a:rPr sz="112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Micro-Fit candidates on custom boards; native COTS connectors retained. Sensors run directly to controller boards.</a:t>
            </a:r>
            <a:endParaRPr sz="1100"/>
          </a:p>
        </p:txBody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d8d44470d4035"/>
          <a:stretch xmlns:a="http://schemas.openxmlformats.org/drawingml/2006/main"/>
        </p:blipFill>
        <p:spPr>
          <a:xfrm xmlns:a="http://schemas.openxmlformats.org/drawingml/2006/main">
            <a:off x="6263640" y="2929926"/>
            <a:ext cx="5394960" cy="2433757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01DA3F16-F9A6-4DC6-A30D-F65ED22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44068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25"/>
            </a:pPr>
            <a:r>
              <a:rPr sz="825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Electrical System Level Wiring Diagram R27 · APDU_Electrical_Tables_R27.xlsx · engineering release remains HOLD</a:t>
            </a:r>
            <a:endParaRPr sz="900"/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2677e194547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5742432"/>
            <a:ext cx="1188720" cy="5943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A8A54546-995D-43AA-AA2F-AC275DB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6072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Lane conveyor CB002-24V-573mm: 24 V, ≤ 0.2 A idle, 5.8 cm/s, ≤ 6 kg — 70 of them, one LANECTRL per row of 7.</a:t>
            </a:r>
            <a:endParaRPr sz="10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8AA1D847-472F-4774-8376-338342B0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23455E2-B078-4D57-9A7E-34D389D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1470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F753E77-A8B9-4F63-8794-B710D9A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38471558449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7AB911B-E167-4439-BAD3-59BA3CE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7B639E-0AE5-4127-9181-95241258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Gantry drives from the mechanical BOM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0878E21-64A1-4EDC-A298-1DA42DCB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Single 24 V architecture; exact drive compatibility and brake interface remain open.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337EEDE-34D5-433C-8181-B02F2A26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Emtech 57BYG250-76: two motors with supplied drivers and brakes; X has a 3:1 gearbox. Driver packaging is unconfirmed.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separate 48 V PSU. Verify 24 V operation, supply input current, signals and brake requirements.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Six gantry sensors wire directly to SYSCTRL. Lead lengths and chain routing need confirmation.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56269803-1396-4016-8BEF-72949B5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5D0D61-0B1C-4E53-8188-E30D249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27ad39e6d4a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32F7D18-55FD-48D5-A44C-F01BE0B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BC0E2DA-E41E-4D6A-B942-4650CAA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Provide the exact motor, driver and brake datasheets.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the supplied driver meet the motion load at 24 V?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What are the STEP/DIR, ALARM and brake interfaces?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the sensor leads reach SYSCTRL directly?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5791390-FE1F-49BE-AAA7-76EFB197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HOLD O01/O15: W11, W12, W15, W29, W30 and the full PSU budget.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D211AA2-D81B-47FF-A17C-5ADE7D8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DB4700-334D-45A5-A7EB-B596C6F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  <p:sp>
        <p:nvSpPr>
          <p:cNvPr id="19" name="Gantry SYSCTRL">
            <a:extLst xmlns:a="http://schemas.openxmlformats.org/drawingml/2006/main">
              <a:ext uri="{FF2B5EF4-FFF2-40B4-BE49-F238E27FC236}">
                <a16:creationId xmlns:a16="http://schemas.microsoft.com/office/drawing/2014/main" id="{66C4E500-D591-4610-8C7C-06AFCB1B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SYSCTRL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Control + alarms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Brake interface TBC</a:t>
            </a:r>
          </a:p>
        </p:txBody>
      </p:sp>
      <p:sp>
        <p:nvSpPr>
          <p:cNvPr id="20" name="Gantry PSU">
            <a:extLst xmlns:a="http://schemas.openxmlformats.org/drawingml/2006/main">
              <a:ext uri="{FF2B5EF4-FFF2-40B4-BE49-F238E27FC236}">
                <a16:creationId xmlns:a16="http://schemas.microsoft.com/office/drawing/2014/main" id="{11322A0D-CF80-4B0D-85A3-D8032AE7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1450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BE3A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E3A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E3A2B"/>
                </a:solidFill>
                <a:latin typeface="Arial"/>
                <a:ea typeface="Arial"/>
                <a:cs typeface="Arial"/>
              </a:rPr>
              <a:t>PSU1 · 24 V system rail (drive use TBC)</a:t>
            </a:r>
          </a:p>
        </p:txBody>
      </p:sp>
      <p:sp>
        <p:nvSpPr>
          <p:cNvPr id="21" name="Gantry drives">
            <a:extLst xmlns:a="http://schemas.openxmlformats.org/drawingml/2006/main">
              <a:ext uri="{FF2B5EF4-FFF2-40B4-BE49-F238E27FC236}">
                <a16:creationId xmlns:a16="http://schemas.microsoft.com/office/drawing/2014/main" id="{2735EF04-92A3-4E2D-BF86-7AA38C7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2895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X / Z motors + supplied drivers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Brakes; X has 3:1 gearbox</a:t>
            </a:r>
          </a:p>
        </p:txBody>
      </p:sp>
      <p:sp>
        <p:nvSpPr>
          <p:cNvPr id="22" name="Gantry sensors">
            <a:extLst xmlns:a="http://schemas.openxmlformats.org/drawingml/2006/main">
              <a:ext uri="{FF2B5EF4-FFF2-40B4-BE49-F238E27FC236}">
                <a16:creationId xmlns:a16="http://schemas.microsoft.com/office/drawing/2014/main" id="{061D4286-6D48-4D97-8D6A-F1AB69F2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0425"/>
            <a:ext cx="2895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6 sensors → SYSCTRL directly (W15)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143125" y="2700338"/>
            <a:ext cx="714375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286250" y="2133600"/>
            <a:ext cx="1905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E3A2B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22" idx="1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 flipV="1">
            <a:off x="1381125" y="3057525"/>
            <a:ext cx="1476375" cy="557213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61221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A26A03-45D8-44DF-B5EE-4847F0D3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f57ba655445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00B723-F008-4CB0-B189-7174D39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2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F2ACAC3-7EE3-4EF3-8D09-FC3D31AD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Camera and OCR: is it needed?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C806BD8-620B-4CCB-9CF7-53511F2B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Camera/OCR is excluded; no reserved port or mounting space has been verified.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8FCFD8E-0CB7-4349-BC51-F0720DD6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Camera/OCR remains outside the approved baseline. No camera, ring light or cable is procured.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Available MYIR ports and processing capacity must be checked against the selected board and marker.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Bottle orientation still needs a defined mechanical reference, sensor or vision solution.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4BC4BBF-50B4-480E-BF26-5561FC9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11108FD-BE6D-49D5-B850-FF9DA4F1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40b7015444f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3DC9BE05-2FE0-4E58-99BE-A4A84D9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88B098C-B861-4275-A4DB-1DB20BF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a camera needed at all: bottle orientation for marking, dispense verification, or an audit photo?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If yes: read text (OCR), or only find a mark or the label edge?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USB or Ethernet camera, and where does it mount: labeling station or retrieval bay?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Are images stored? Labels carry patient data, so retention and encryption rules apply.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F6649D30-9034-4841-BE88-3400A5FF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software scope, ring light and 24 V budget, one cable, labeling-station bracket.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A019C88-1788-436C-8661-AF5B191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1E924929-2240-4720-9270-7332D4F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  <p:sp>
        <p:nvSpPr>
          <p:cNvPr id="19" name="Vision mechanical">
            <a:extLst xmlns:a="http://schemas.openxmlformats.org/drawingml/2006/main">
              <a:ext uri="{FF2B5EF4-FFF2-40B4-BE49-F238E27FC236}">
                <a16:creationId xmlns:a16="http://schemas.microsoft.com/office/drawing/2014/main" id="{A4BBDD8D-0A5B-4017-B640-F099A596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LABELING STATION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Bottle orientation method pending</a:t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Mechanical reference / sensor / vision</a:t>
            </a:r>
          </a:p>
        </p:txBody>
      </p:sp>
      <p:sp>
        <p:nvSpPr>
          <p:cNvPr id="20" name="Vision option">
            <a:extLst xmlns:a="http://schemas.openxmlformats.org/drawingml/2006/main">
              <a:ext uri="{FF2B5EF4-FFF2-40B4-BE49-F238E27FC236}">
                <a16:creationId xmlns:a16="http://schemas.microsoft.com/office/drawing/2014/main" id="{867CC4FB-AFFA-4CE1-B9BB-B671350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52625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CAMERA / OCR</a:t>
            </a:r>
          </a:p>
          <a:p xmlns:a="http://schemas.openxmlformats.org/drawingml/2006/main">
            <a:pPr>
              <a:defRPr sz="120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Excluded; quantity 0</a:t>
            </a:r>
          </a:p>
        </p:txBody>
      </p:sp>
      <p:sp>
        <p:nvSpPr>
          <p:cNvPr id="21" name="Vision interface">
            <a:extLst xmlns:a="http://schemas.openxmlformats.org/drawingml/2006/main">
              <a:ext uri="{FF2B5EF4-FFF2-40B4-BE49-F238E27FC236}">
                <a16:creationId xmlns:a16="http://schemas.microsoft.com/office/drawing/2014/main" id="{E7A8D1FA-C9E4-40AE-BBF0-30F5DB6E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2417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MAINCTRL interface and ports</a:t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TBC after product selection</a:t>
            </a:r>
          </a:p>
        </p:txBody>
      </p:sp>
    </p:spTree>
    <p:extLst>
      <p:ext uri="{BB962C8B-B14F-4D97-AF65-F5344CB8AC3E}">
        <p14:creationId xmlns:p14="http://schemas.microsoft.com/office/powerpoint/2010/main" val="1754769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78374E-123A-46C6-A50C-9BD0840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8ad76689c4a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3E99660-E11A-4C67-A06A-A256ACF7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3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198644E-3755-4FDA-94B4-A2740967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UPS and battery backup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00B0247-153E-450D-8D7D-6938EBDF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900" b="1" i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Current power architecture; UPS and battery exclusion remains the meeting decision.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1BE93F5-F275-431E-A029-7DF7A11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rejected UPS and battery backup.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baseline uses one AC-fed 24 V system power supply.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Power-loss recovery and safe motion/door states still need implementation and testing.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30E1B74-3357-43D5-AA9C-B973036A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DC84BDE-07B4-4C78-B500-C2D90C8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17acec06d47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A96C80-E45C-4297-BD9C-F3DCBEF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100" b="1" spc="200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MEETING DECISION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1B9DB33-7499-4579-8843-9D66100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Not approved during the meeting.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UPS and battery backup are not required.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Excluded from the electrical design.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B5618D0-F960-4A08-A415-95D2BA4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Closed: no UPS or backup battery in the R27 drawing.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71FBE94-0098-48B2-9460-51B8703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0973BEE-BDF1-4580-B997-9BBA936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  <p:sp>
        <p:nvSpPr>
          <p:cNvPr id="19" name="Power AC">
            <a:extLst xmlns:a="http://schemas.openxmlformats.org/drawingml/2006/main">
              <a:ext uri="{FF2B5EF4-FFF2-40B4-BE49-F238E27FC236}">
                <a16:creationId xmlns:a16="http://schemas.microsoft.com/office/drawing/2014/main" id="{A7AB06BA-60AB-4C60-A612-D6457392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AC mains</a:t>
            </a:r>
          </a:p>
        </p:txBody>
      </p:sp>
      <p:sp>
        <p:nvSpPr>
          <p:cNvPr id="20" name="Power PSU">
            <a:extLst xmlns:a="http://schemas.openxmlformats.org/drawingml/2006/main">
              <a:ext uri="{FF2B5EF4-FFF2-40B4-BE49-F238E27FC236}">
                <a16:creationId xmlns:a16="http://schemas.microsoft.com/office/drawing/2014/main" id="{3E8123D0-13F0-4A3B-A1BF-D5F31AC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PSU1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24 V / 21 A</a:t>
            </a:r>
          </a:p>
        </p:txBody>
      </p:sp>
      <p:sp>
        <p:nvSpPr>
          <p:cNvPr id="21" name="Power loads">
            <a:extLst xmlns:a="http://schemas.openxmlformats.org/drawingml/2006/main">
              <a:ext uri="{FF2B5EF4-FFF2-40B4-BE49-F238E27FC236}">
                <a16:creationId xmlns:a16="http://schemas.microsoft.com/office/drawing/2014/main" id="{604E2164-835A-4280-984C-DF6E4B0D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System loads</a:t>
            </a:r>
          </a:p>
        </p:txBody>
      </p:sp>
      <p:cxnSp>
        <p:nvCxnSpPr>
          <p:cNvPr id="4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857375" y="2524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E3A2B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000500" y="2524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E3A2B"/>
            </a:solidFill>
            <a:tailEnd type="triangle" w="sm" len="sm"/>
          </a:ln>
        </p:spPr>
      </p:cxnSp>
      <p:sp>
        <p:nvSpPr>
          <p:cNvPr id="24" name="Power exclusion">
            <a:extLst xmlns:a="http://schemas.openxmlformats.org/drawingml/2006/main">
              <a:ext uri="{FF2B5EF4-FFF2-40B4-BE49-F238E27FC236}">
                <a16:creationId xmlns:a16="http://schemas.microsoft.com/office/drawing/2014/main" id="{F0A7A21B-1A5D-454B-9FDA-F3B1C66E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519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BE3A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E3A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3A2B"/>
                </a:solidFill>
                <a:latin typeface="Arial"/>
                <a:ea typeface="Arial"/>
                <a:cs typeface="Arial"/>
              </a:rPr>
              <a:t>UPS and battery backup excluded by customer decision</a:t>
            </a:r>
          </a:p>
        </p:txBody>
      </p:sp>
    </p:spTree>
    <p:extLst>
      <p:ext uri="{BB962C8B-B14F-4D97-AF65-F5344CB8AC3E}">
        <p14:creationId xmlns:p14="http://schemas.microsoft.com/office/powerpoint/2010/main" val="13499826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9871F2-8DBB-41F4-B172-D5032152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207cc5871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103B658-DFA9-488E-9C54-12C533A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4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4DCE4E2-32A4-4FCD-BD06-2E5B6B9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Ethernet panel connection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6399A62-182D-421C-A8EF-66386CA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J2 selected: McMaster-Carr 1422N13, quantity 1 per machine.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5CD6BF-6C41-4B12-A15D-D8BC7C3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Shielded Cat5e RJ45 female/female adapter; black plastic housing; mounting fasteners included.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Rear panel: 0.95 in (24.13 mm) cutout; check mounting drawing and service clearance.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connects by an internal patch cable. No cabinet Ethernet switch. Optional radio hardware is not procured.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23995FD5-6558-4BA1-873A-4047E6E8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E745904-A55F-4B47-AE5B-8C08345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05489722e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99EA06D-A52A-4725-82B3-FA9FDD70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677382C-2176-464D-93FA-3C0E1E80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panel placement and cable bend clearance.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DHCP or static IP; VLAN and firewall rules?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Select the label marker and its interface.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optional Wi-Fi/BLE actually required?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94A3B5F-1DD3-4B83-82B4-92D126D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J2 is selected in both BOMs. W09 is internal; W38 is the site-supplied cable.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7580347-A790-43A2-B4EB-A79E4EE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9068AC8-9B71-44B4-87C3-278FE4EE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  <p:sp>
        <p:nvSpPr>
          <p:cNvPr id="19" name="Network MAINCTRL">
            <a:extLst xmlns:a="http://schemas.openxmlformats.org/drawingml/2006/main">
              <a:ext uri="{FF2B5EF4-FFF2-40B4-BE49-F238E27FC236}">
                <a16:creationId xmlns:a16="http://schemas.microsoft.com/office/drawing/2014/main" id="{94DA400C-D756-4196-9393-24D5D1D4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466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MAINCTRL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Native Ethernet port</a:t>
            </a:r>
          </a:p>
        </p:txBody>
      </p:sp>
      <p:sp>
        <p:nvSpPr>
          <p:cNvPr id="20" name="Network J2">
            <a:extLst xmlns:a="http://schemas.openxmlformats.org/drawingml/2006/main">
              <a:ext uri="{FF2B5EF4-FFF2-40B4-BE49-F238E27FC236}">
                <a16:creationId xmlns:a16="http://schemas.microsoft.com/office/drawing/2014/main" id="{D0ACA091-2EED-4EAA-844F-F9463F39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76450"/>
            <a:ext cx="1695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J2 · McMaster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1422N13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Shielded Cat5e F/F</a:t>
            </a:r>
          </a:p>
        </p:txBody>
      </p:sp>
      <p:sp>
        <p:nvSpPr>
          <p:cNvPr id="21" name="Network site">
            <a:extLst xmlns:a="http://schemas.openxmlformats.org/drawingml/2006/main">
              <a:ext uri="{FF2B5EF4-FFF2-40B4-BE49-F238E27FC236}">
                <a16:creationId xmlns:a16="http://schemas.microsoft.com/office/drawing/2014/main" id="{4291B46A-98EA-4229-895B-5B850E1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76450"/>
            <a:ext cx="11525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Site LAN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IT policy TBC</a:t>
            </a:r>
          </a:p>
        </p:txBody>
      </p:sp>
      <p:cxnSp>
        <p:nvCxnSpPr>
          <p:cNvPr id="4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057400" y="24574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219575" y="24574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sp>
        <p:nvSpPr>
          <p:cNvPr id="24" name="Network options">
            <a:extLst xmlns:a="http://schemas.openxmlformats.org/drawingml/2006/main">
              <a:ext uri="{FF2B5EF4-FFF2-40B4-BE49-F238E27FC236}">
                <a16:creationId xmlns:a16="http://schemas.microsoft.com/office/drawing/2014/main" id="{602405D0-CF87-4590-93CE-EB416F96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23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52616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W09 internal patch · W38 external site cable · no internal switch</a:t>
            </a:r>
          </a:p>
        </p:txBody>
      </p:sp>
    </p:spTree>
    <p:extLst>
      <p:ext uri="{BB962C8B-B14F-4D97-AF65-F5344CB8AC3E}">
        <p14:creationId xmlns:p14="http://schemas.microsoft.com/office/powerpoint/2010/main" val="1057831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484FA0-04CD-4EAE-9CC4-BFC41BBC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19df52b634e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0CB9887-071E-48A6-B064-6BF1B781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5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4C9183-269D-40CF-BD40-3CB9AC2F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Cellular (LTE) modem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72829fe52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1640" y="1645920"/>
            <a:ext cx="3108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8A583FC-8434-40A7-8911-5306E900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MYIR MYD-YF13X MAINCTRL board. Cellular hardware will not be fitted.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A6D76BB-4BE9-41BB-A7DC-1F6E590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rejected cellular connectivity during the meeting.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site network carries the vend API and remote service.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cellular modem, SIM, data plan or LTE antennas are included.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0E0B7433-8C99-4383-BB64-2DB19578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B85FB8C-C81F-4DCD-BF33-395FB22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e43ed2a644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B29959FB-0B48-4846-AFC1-089A02A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100" b="1" spc="200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MEETING DECISION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63AAD00-4FEC-4BEE-B488-39B269D1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Not approved during the meeting.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Cellular connectivity is not required.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Excluded from the electrical design.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B6BC5C2-5606-4B45-9489-0FF3BF6D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Closed: no cellular connection in the R27 drawing.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4F36DFC-2492-45E3-8D97-9F1F1123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D3AB931-0981-4C13-AD83-6E82DECE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64506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2131615-37FC-4B25-A6AD-F4594410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556c7b62b4f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C46032D-3D2F-46C9-8FFE-32A363FB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6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4C042C8-4940-4DCF-BB9C-4092F72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Product illumination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AF38D4E-D431-42E5-8BAE-151FA1D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Interior lighting remains a proposal; zero committed quantity and budget.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051C6A9-C3ED-4FD6-B1EF-B002CBA4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interior lighting zones are included in the baseline.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If approved, select voltage, strip power and output drivers before adding load to the SYSCTRL converter.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separate status light remains a required item; its model and W36 route are open.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A89450C2-DEFE-4A47-89D3-4CC3E33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2237518-FC95-4F09-A585-F107555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6dc95d08545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925AE48B-9849-49DA-B8AC-0C672B9B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9057546-D1ED-4F48-A77D-4994FAB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Which zones need light?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For the customer through a window, or for staff during restocking?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Always on, or only on events?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Neutral white, or a status colour at the retrieval bay?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B9C4ADAE-8D90-4A27-944D-7CA1ECB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SYSCTRL outputs, 12 V budget, row harness routing.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AE3246F-60C3-4E4F-8019-7A61E7C6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EA90806D-7AB8-4F3B-B8A2-BFFBFE8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  <p:sp>
        <p:nvSpPr>
          <p:cNvPr id="19" name="Lighting scope">
            <a:extLst xmlns:a="http://schemas.openxmlformats.org/drawingml/2006/main">
              <a:ext uri="{FF2B5EF4-FFF2-40B4-BE49-F238E27FC236}">
                <a16:creationId xmlns:a16="http://schemas.microsoft.com/office/drawing/2014/main" id="{0ACCF972-7194-48C0-9870-1C7859DA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INTERIOR LIGHTING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Quantity 0</a:t>
            </a:r>
          </a:p>
          <a:p xmlns:a="http://schemas.openxmlformats.org/drawingml/2006/main">
            <a:pPr>
              <a:defRPr sz="120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Zones, voltage and power pending customer approval</a:t>
            </a:r>
          </a:p>
        </p:txBody>
      </p:sp>
      <p:sp>
        <p:nvSpPr>
          <p:cNvPr id="20" name="Status scope">
            <a:extLst xmlns:a="http://schemas.openxmlformats.org/drawingml/2006/main">
              <a:ext uri="{FF2B5EF4-FFF2-40B4-BE49-F238E27FC236}">
                <a16:creationId xmlns:a16="http://schemas.microsoft.com/office/drawing/2014/main" id="{318B0C00-EDC4-4869-B549-0937375C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STATUS LIGHT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Required: quantity 1</a:t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SYSCTRL W36</a:t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Model and route length TBC</a:t>
            </a:r>
          </a:p>
        </p:txBody>
      </p:sp>
    </p:spTree>
    <p:extLst>
      <p:ext uri="{BB962C8B-B14F-4D97-AF65-F5344CB8AC3E}">
        <p14:creationId xmlns:p14="http://schemas.microsoft.com/office/powerpoint/2010/main" val="24686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59B57D-2471-4449-9ED8-7D521A4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55938ada0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CC9267D-A8B7-474D-90B0-ECCD13F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7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CE8274-2B66-457F-BAC2-E3900F3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iPad connection: QR code, Wi-Fi or BLE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b17d59da84b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E4DDDA9-096A-4CB6-9F29-8DA7D6D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Proposed flow: site LAN and QR onboarding; authentication design remains open.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52FC835-9B63-4E83-9B91-806511BA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external iPad uses the site network and the Adherent app or browser.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QR onboarding and local discovery are proposals, not implemented security controls.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BLE requires approved radio hardware and firmware. The wired baseline does not include it.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111348C-C5F0-48E5-B552-BA75184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C22EE7-826E-49AE-9D1B-422ECFCA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b0427c5654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1CFA016-F4C8-4DE1-B6C1-484637D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B3E8E78-AD51-41EB-87E5-9215C07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Will the iPad be on the pharmacy Wi-Fi, or must it work without the site network?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Printed QR code acceptable, or a dynamic code on the unit?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How many units per pharmacy?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Who owns authentication: the Adherent cloud or a local login?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A60BEB2F-B1E2-4ED7-9D5A-82EA67F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software scope, cabinet label, antenna placement.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322C90D-839D-42C3-B9D3-3C8D19A1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0F7B02-F7D2-40E6-AD4C-09917EB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1525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4AE89C-B451-4CF0-86B4-EC598784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564c902bb4a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F9DE587-7D35-4BDF-966A-D49EE8AD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8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BAE314A-7A22-408D-AE10-CC2A6EDE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Wire harness drawings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E8ED109-C0A0-4AC2-9D40-CA5960DD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Sensors connect directly to SYSCTRL and IOCTRL; no junction boxes.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2E5F610-F700-496C-B00C-916AABD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W15: six direct gantry sensor runs. W23: five direct door sensor runs. W14 and W22 are retired.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W01–W39 retain stable identifiers: 31 required cable types. Five required route lengths are still unknown.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111 m is only the known routing subtotal, not a cutting or purchase length. Finalize gauge, pinout, mates and service loops.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B17D073-527A-4F96-8CB4-EEBA835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FEF867-F4E0-44CB-A41C-483C990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d5089b35b4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47D1B44-BD5E-45C3-8E5B-61E50C7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AAAAAF9-51E3-4A15-B44D-9EE0401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Measure direct sensor routes and check the supplied 1 m leads.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chain fill, bend radius and service loops.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Verify LANECTRL placement against the bracket DWG.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Release one pin-to-pin drawing per required harness.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3FB39403-B96F-4374-A20C-1E787D75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HOLD O06/O12/O15: no blanket 22 AWG or parallel-pin current rating.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A64AD50-A816-49D5-8C5F-BF0D95B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96FD61F-D20D-4FB0-9992-F1611F2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11</a:t>
            </a:r>
            <a:endParaRPr sz="1000"/>
          </a:p>
        </p:txBody>
      </p:sp>
      <p:sp>
        <p:nvSpPr>
          <p:cNvPr id="19" name="Direct SYSCTRL">
            <a:extLst xmlns:a="http://schemas.openxmlformats.org/drawingml/2006/main">
              <a:ext uri="{FF2B5EF4-FFF2-40B4-BE49-F238E27FC236}">
                <a16:creationId xmlns:a16="http://schemas.microsoft.com/office/drawing/2014/main" id="{48F70BBE-1A14-4CE8-8B6F-661C92C0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14573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SYSCTRL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J21–J26</a:t>
            </a:r>
          </a:p>
        </p:txBody>
      </p:sp>
      <p:sp>
        <p:nvSpPr>
          <p:cNvPr id="20" name="Direct gantry sensors">
            <a:extLst xmlns:a="http://schemas.openxmlformats.org/drawingml/2006/main">
              <a:ext uri="{FF2B5EF4-FFF2-40B4-BE49-F238E27FC236}">
                <a16:creationId xmlns:a16="http://schemas.microsoft.com/office/drawing/2014/main" id="{DCBD3723-B468-46E7-80A1-94832E6E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30003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6 gantry sensors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W15 direct; route lengths TBC</a:t>
            </a:r>
          </a:p>
        </p:txBody>
      </p:sp>
      <p:sp>
        <p:nvSpPr>
          <p:cNvPr id="21" name="Direct IOCTRL">
            <a:extLst xmlns:a="http://schemas.openxmlformats.org/drawingml/2006/main">
              <a:ext uri="{FF2B5EF4-FFF2-40B4-BE49-F238E27FC236}">
                <a16:creationId xmlns:a16="http://schemas.microsoft.com/office/drawing/2014/main" id="{3781E6AA-1871-4D58-8CA4-BF4B2B1C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14573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IOCTRL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DI1–DI5</a:t>
            </a:r>
          </a:p>
        </p:txBody>
      </p:sp>
      <p:sp>
        <p:nvSpPr>
          <p:cNvPr id="22" name="Direct door sensors">
            <a:extLst xmlns:a="http://schemas.openxmlformats.org/drawingml/2006/main">
              <a:ext uri="{FF2B5EF4-FFF2-40B4-BE49-F238E27FC236}">
                <a16:creationId xmlns:a16="http://schemas.microsoft.com/office/drawing/2014/main" id="{7E5D0929-7290-441D-B11D-871D107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30003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5 door sensors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W23 direct; route lengths TBC</a:t>
            </a:r>
          </a:p>
        </p:txBody>
      </p:sp>
      <p:sp>
        <p:nvSpPr>
          <p:cNvPr id="23" name="Direct LANECTRL">
            <a:extLst xmlns:a="http://schemas.openxmlformats.org/drawingml/2006/main">
              <a:ext uri="{FF2B5EF4-FFF2-40B4-BE49-F238E27FC236}">
                <a16:creationId xmlns:a16="http://schemas.microsoft.com/office/drawing/2014/main" id="{F307ADBD-B9B9-4DF0-8FBE-E58EEC6F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4573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LANECTRL ×10</a:t>
            </a:r>
          </a:p>
        </p:txBody>
      </p:sp>
      <p:sp>
        <p:nvSpPr>
          <p:cNvPr id="24" name="Direct conveyors">
            <a:extLst xmlns:a="http://schemas.openxmlformats.org/drawingml/2006/main">
              <a:ext uri="{FF2B5EF4-FFF2-40B4-BE49-F238E27FC236}">
                <a16:creationId xmlns:a16="http://schemas.microsoft.com/office/drawing/2014/main" id="{AE0F81D5-B2B4-47BE-8A82-8DDA96F6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48025"/>
            <a:ext cx="30003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70 conveyor leads W27</a:t>
            </a:r>
          </a:p>
          <a:p xmlns:a="http://schemas.openxmlformats.org/drawingml/2006/main">
            <a:pPr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Bracket / feedback interface TBC</a:t>
            </a:r>
          </a:p>
        </p:txBody>
      </p:sp>
      <p:cxnSp>
        <p:nvCxnSpPr>
          <p:cNvPr id="48" name=""/>
          <p:cNvCxnSpPr>
            <a:stCxn xmlns:a="http://schemas.openxmlformats.org/drawingml/2006/main" id="20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2047875" y="20145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22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2047875" y="27574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047875" y="3500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79283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C10E29-E055-4866-86FC-AAD3A51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0509a51aa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FE0DCEF-A38B-4FBB-A15A-C0C621E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9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00C56DF-26D7-4C7F-8072-BF2FFAC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NFC and card reader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94e5aba5143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3DA30FC-024D-4B7B-B7A6-A74F640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NFC and payment hardware remain excluded; select the product before panel design.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32E0E15-599E-419B-9B9B-401F22D1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NFC, RFID or payment terminal is included in the baseline BOM.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Choose the use case and certified product/interface before reserving a panel opening or MAINCTRL port.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Budget power, network integration and data handling only after the requirement is approved.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3C4549F-07DB-4B32-BD7E-52EDFC6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908347C-6660-46C4-A3B9-D8F4888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42f281b1547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6C7ED2A-FC65-453F-81DB-605042E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D9799B0-4297-412B-A037-7535715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Use case: staff login, patient pickup, or payment?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Which card: badge, patient ID, insurance, credit, phone wallet?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Where should the reader sit?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Validated in the Adherent cloud, or locally?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0D803D5-A028-4E55-825D-0FE02847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USB ports, front-panel cut-out, security scope.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49CF628-6E27-4A21-B3F4-D56303A0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B016A084-02E8-4656-B860-5648929E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76053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45BF138-EC78-43FD-B73D-39DA63B6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b3e9b1ab342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5C94CBB-B891-41A8-AB9A-940A51F2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10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18370B5-92FD-4B0D-B491-FAFBF6B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Connector standard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5AF5493-6A9A-48BA-86B1-C50F4883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1568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Connector families are candidates until mating and current checks are complete.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55E3CFB-B280-40DD-813E-926B972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21608"/>
            <a:ext cx="5394960" cy="2267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Custom PCBs prefer Micro-Fit 3.0. COTS MYIR and Waveshare boards retain their native connectors.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J2 is McMaster 1422N13. Mains entry, power connectors, fuse holders and crimps still need final coordination.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junction boxes. Lane buttons and LEDs are PCB-mounted; bracket geometry must match the DWG.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EC2135BC-B656-4A5F-B66D-0BBFC1F3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BF1FF14-9A05-49E6-9386-6E2926A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b1a95cb204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4E42240-02F7-4044-A4B2-7325A3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332D386-3F7C-47F8-A6AE-EE0FE3F9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Approve exact mating housings, contacts and keying.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Validate gauge, temperature rise and voltage drop.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service access and panel cutouts.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Do not treat a generic per-pin rating as harness approval.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F2DDB6D-432B-4E98-B528-09A28DAD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HOLD O03/O05/O06: conveyor feedback, H-bridge/TVS coordination and protection.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DF2CFF5-EDB2-42B9-A73F-FF17B84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DEECCF6-C91A-4A3C-B7C5-89B652B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13</a:t>
            </a:r>
            <a:endParaRPr sz="1000"/>
          </a:p>
        </p:txBody>
      </p:sp>
      <p:sp>
        <p:nvSpPr>
          <p:cNvPr id="19" name="Custom connectors">
            <a:extLst xmlns:a="http://schemas.openxmlformats.org/drawingml/2006/main">
              <a:ext uri="{FF2B5EF4-FFF2-40B4-BE49-F238E27FC236}">
                <a16:creationId xmlns:a16="http://schemas.microsoft.com/office/drawing/2014/main" id="{D6EF598D-D6F7-4768-9753-2A7557DF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619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CUSTOM BOARDS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Micro-Fit candidates</a:t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Mating set and current rating pending</a:t>
            </a:r>
          </a:p>
        </p:txBody>
      </p:sp>
      <p:sp>
        <p:nvSpPr>
          <p:cNvPr id="20" name="COTS connectors">
            <a:extLst xmlns:a="http://schemas.openxmlformats.org/drawingml/2006/main">
              <a:ext uri="{FF2B5EF4-FFF2-40B4-BE49-F238E27FC236}">
                <a16:creationId xmlns:a16="http://schemas.microsoft.com/office/drawing/2014/main" id="{ACB779E9-5CAB-465E-8D41-63046F2C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1619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COTS BOARDS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Native MYIR / Waveshare connectors</a:t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Verify pinouts</a:t>
            </a:r>
          </a:p>
        </p:txBody>
      </p:sp>
      <p:sp>
        <p:nvSpPr>
          <p:cNvPr id="21" name="Panel connectors">
            <a:extLst xmlns:a="http://schemas.openxmlformats.org/drawingml/2006/main">
              <a:ext uri="{FF2B5EF4-FFF2-40B4-BE49-F238E27FC236}">
                <a16:creationId xmlns:a16="http://schemas.microsoft.com/office/drawing/2014/main" id="{8A77E8C6-4AA9-44B6-8B1F-BE280524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19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PANEL / POWER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J2: 1422N13</a:t>
            </a:r>
          </a:p>
          <a:p xmlns:a="http://schemas.openxmlformats.org/drawingml/2006/main">
            <a:pPr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Mains / protection selection pending</a:t>
            </a:r>
          </a:p>
        </p:txBody>
      </p:sp>
    </p:spTree>
    <p:extLst>
      <p:ext uri="{BB962C8B-B14F-4D97-AF65-F5344CB8AC3E}">
        <p14:creationId xmlns:p14="http://schemas.microsoft.com/office/powerpoint/2010/main" val="13504099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FFEC7E-B310-458C-B379-B95201A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201168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BD7D62-3049-4D3F-BAA6-A809F8C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Decisions and engineering release gates</a:t>
            </a:r>
            <a:endParaRPr sz="3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34683BA-E3B2-484F-B02B-0983CB1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Gantry drives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EB75AC-7B52-4B16-9987-8B6B82C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24 V compatibility · exact drive / brake data</a:t>
            </a:r>
            <a:endParaRPr sz="115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E8D1EBD-658B-412C-B0F3-ECF40F8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Camera / OCR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F41A71F-802A-48F3-8F90-619A1D48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needed at all · purpose · USB vs Ethernet</a:t>
            </a:r>
            <a:endParaRPr sz="115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96E2C558-C3E5-41AF-ACF7-FC239DAE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Backup power</a:t>
            </a:r>
            <a:endParaRPr sz="15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358CEB1-94EF-4303-AEB6-08C47868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FF7777"/>
                </a:solidFill>
              </a:defRPr>
            </a:pPr>
            <a:r>
              <a:rPr sz="1150" b="1">
                <a:solidFill>
                  <a:srgbClr val="FF7777"/>
                </a:solidFill>
                <a:latin typeface="Calibri"/>
                <a:ea typeface="Calibri"/>
                <a:cs typeface="Calibri"/>
              </a:rPr>
              <a:t>Not approved in the meeting. Not required.</a:t>
            </a:r>
            <a:endParaRPr sz="115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47A8771-1A41-47E9-8C31-D584E3D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</a:t>
            </a:r>
            <a:endParaRPr sz="15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0D55BF1-116A-4CE6-BDAA-57B69B8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J2: McMaster 1422N13 · site IT policy open</a:t>
            </a:r>
            <a:endParaRPr sz="115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A704875F-2659-40D8-8762-FF19545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Cellular</a:t>
            </a:r>
            <a:endParaRPr sz="15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C2EF0250-182C-494B-8F76-14EB719A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FF7777"/>
                </a:solidFill>
              </a:defRPr>
            </a:pPr>
            <a:r>
              <a:rPr sz="1150" b="1">
                <a:solidFill>
                  <a:srgbClr val="FF7777"/>
                </a:solidFill>
                <a:latin typeface="Calibri"/>
                <a:ea typeface="Calibri"/>
                <a:cs typeface="Calibri"/>
              </a:rPr>
              <a:t>Not approved in the meeting. Not required.</a:t>
            </a:r>
            <a:endParaRPr sz="1150"/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F05FF227-5B74-469B-B06D-6269BAE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Lighting</a:t>
            </a:r>
            <a:endParaRPr sz="15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259E34C1-0F94-44F5-9345-9745948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zones · event-driven vs always on · colour</a:t>
            </a:r>
            <a:endParaRPr sz="1150"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634DD78F-192F-43DC-BF38-7E79F8DF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iPad pairing</a:t>
            </a:r>
            <a:endParaRPr sz="150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0894F2E3-722A-4A27-B69D-AEFC421C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 + QR (recommended) vs AP mode vs BLE</a:t>
            </a:r>
            <a:endParaRPr sz="1150"/>
          </a:p>
        </p:txBody>
      </p:sp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91E72941-C763-4C69-865D-EDADA624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Harnesses</a:t>
            </a:r>
            <a:endParaRPr sz="150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0F639A2F-90CA-4A7A-8356-973F44D0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direct sensor runs · lengths · bracket fit</a:t>
            </a:r>
            <a:endParaRPr sz="1150"/>
          </a:p>
        </p:txBody>
      </p:sp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34383764-0DFB-4438-97E2-D63996F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NFC / card</a:t>
            </a:r>
            <a:endParaRPr sz="1500"/>
          </a:p>
        </p:txBody>
      </p:sp>
      <p:sp>
        <p:nvSpPr>
          <p:cNvPr id="39" name="Text 28">
            <a:extLst xmlns:a="http://schemas.openxmlformats.org/drawingml/2006/main">
              <a:ext uri="{FF2B5EF4-FFF2-40B4-BE49-F238E27FC236}">
                <a16:creationId xmlns:a16="http://schemas.microsoft.com/office/drawing/2014/main" id="{0CB34843-E6DB-4D5E-B65C-08E84AC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use case · card type · location</a:t>
            </a:r>
            <a:endParaRPr sz="1150"/>
          </a:p>
        </p:txBody>
      </p:sp>
      <p:sp>
        <p:nvSpPr>
          <p:cNvPr id="42" name="Text 30">
            <a:extLst xmlns:a="http://schemas.openxmlformats.org/drawingml/2006/main">
              <a:ext uri="{FF2B5EF4-FFF2-40B4-BE49-F238E27FC236}">
                <a16:creationId xmlns:a16="http://schemas.microsoft.com/office/drawing/2014/main" id="{00EE851A-48D0-47D0-BD1C-79DB09BF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Connectors</a:t>
            </a:r>
            <a:endParaRPr sz="1500"/>
          </a:p>
        </p:txBody>
      </p:sp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441090A9-3E25-46CB-82E3-744121C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mates / gauge · protection · current limits</a:t>
            </a:r>
            <a:endParaRPr sz="1150"/>
          </a:p>
        </p:txBody>
      </p:sp>
      <p:sp>
        <p:nvSpPr>
          <p:cNvPr id="44" name="Text 32">
            <a:extLst xmlns:a="http://schemas.openxmlformats.org/drawingml/2006/main">
              <a:ext uri="{FF2B5EF4-FFF2-40B4-BE49-F238E27FC236}">
                <a16:creationId xmlns:a16="http://schemas.microsoft.com/office/drawing/2014/main" id="{C5767487-5895-4763-9756-3C9E6C0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350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/>
            </a:pPr>
            <a:r>
              <a:rPr sz="1275" i="1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R27 documents are aligned. Release waits for drive data, converter sizing, measured loads, protection and direct-harness validation.</a:t>
            </a:r>
            <a:endParaRPr sz="1400"/>
          </a:p>
        </p:txBody>
      </p:sp>
      <p:sp>
        <p:nvSpPr>
          <p:cNvPr id="45" name="Decision status 0">
            <a:extLst xmlns:a="http://schemas.openxmlformats.org/drawingml/2006/main">
              <a:ext uri="{FF2B5EF4-FFF2-40B4-BE49-F238E27FC236}">
                <a16:creationId xmlns:a16="http://schemas.microsoft.com/office/drawing/2014/main" id="{F47AEB86-ACAA-405F-94E3-EBF5B927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6" name="Decision status 1">
            <a:extLst xmlns:a="http://schemas.openxmlformats.org/drawingml/2006/main">
              <a:ext uri="{FF2B5EF4-FFF2-40B4-BE49-F238E27FC236}">
                <a16:creationId xmlns:a16="http://schemas.microsoft.com/office/drawing/2014/main" id="{8555B271-3196-407A-B580-B1C763A5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954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7" name="Decision status 2">
            <a:extLst xmlns:a="http://schemas.openxmlformats.org/drawingml/2006/main">
              <a:ext uri="{FF2B5EF4-FFF2-40B4-BE49-F238E27FC236}">
                <a16:creationId xmlns:a16="http://schemas.microsoft.com/office/drawing/2014/main" id="{229D2C43-21B1-4318-ACD2-0D56786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A535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5353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53535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48" name="Decision status 3">
            <a:extLst xmlns:a="http://schemas.openxmlformats.org/drawingml/2006/main">
              <a:ext uri="{FF2B5EF4-FFF2-40B4-BE49-F238E27FC236}">
                <a16:creationId xmlns:a16="http://schemas.microsoft.com/office/drawing/2014/main" id="{5F50DA40-5058-4F10-ADB2-656AE9D0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907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9" name="Decision status 4">
            <a:extLst xmlns:a="http://schemas.openxmlformats.org/drawingml/2006/main">
              <a:ext uri="{FF2B5EF4-FFF2-40B4-BE49-F238E27FC236}">
                <a16:creationId xmlns:a16="http://schemas.microsoft.com/office/drawing/2014/main" id="{F4CBFF72-01B2-497F-860C-ACFDD554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A535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5353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53535"/>
                </a:solidFill>
                <a:latin typeface="Arial"/>
                <a:ea typeface="Arial"/>
                <a:cs typeface="Arial"/>
              </a:rPr>
              <a:t>OUT</a:t>
            </a:r>
          </a:p>
        </p:txBody>
      </p:sp>
      <p:sp>
        <p:nvSpPr>
          <p:cNvPr id="50" name="Decision status 5">
            <a:extLst xmlns:a="http://schemas.openxmlformats.org/drawingml/2006/main">
              <a:ext uri="{FF2B5EF4-FFF2-40B4-BE49-F238E27FC236}">
                <a16:creationId xmlns:a16="http://schemas.microsoft.com/office/drawing/2014/main" id="{1FEDB7B8-7B5E-4BDD-8C38-FE45EA0B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861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1" name="Decision status 6">
            <a:extLst xmlns:a="http://schemas.openxmlformats.org/drawingml/2006/main">
              <a:ext uri="{FF2B5EF4-FFF2-40B4-BE49-F238E27FC236}">
                <a16:creationId xmlns:a16="http://schemas.microsoft.com/office/drawing/2014/main" id="{3A5C6857-ADF1-4B32-8092-263AAF25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2" name="Decision status 7">
            <a:extLst xmlns:a="http://schemas.openxmlformats.org/drawingml/2006/main">
              <a:ext uri="{FF2B5EF4-FFF2-40B4-BE49-F238E27FC236}">
                <a16:creationId xmlns:a16="http://schemas.microsoft.com/office/drawing/2014/main" id="{F0E06702-9479-4F13-9734-2254FED1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81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3" name="Decision status 8">
            <a:extLst xmlns:a="http://schemas.openxmlformats.org/drawingml/2006/main">
              <a:ext uri="{FF2B5EF4-FFF2-40B4-BE49-F238E27FC236}">
                <a16:creationId xmlns:a16="http://schemas.microsoft.com/office/drawing/2014/main" id="{DD3ECE3A-9ABF-413B-BA6B-0AEE98C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4" name="Decision status 9">
            <a:extLst xmlns:a="http://schemas.openxmlformats.org/drawingml/2006/main">
              <a:ext uri="{FF2B5EF4-FFF2-40B4-BE49-F238E27FC236}">
                <a16:creationId xmlns:a16="http://schemas.microsoft.com/office/drawing/2014/main" id="{6F108D08-09DD-4068-B252-F2456649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768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8015923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2026-09-25T03:32:13.9660000Z</dcterms:created>
  <dcterms:modified xsi:type="dcterms:W3CDTF">2026-09-25T03:32:13.9660000Z</dcterms:modified>
</coreProperties>
</file>